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1683" r:id="rId2"/>
    <p:sldId id="356" r:id="rId3"/>
    <p:sldId id="1656" r:id="rId4"/>
    <p:sldId id="375" r:id="rId5"/>
    <p:sldId id="1657" r:id="rId6"/>
    <p:sldId id="1658" r:id="rId7"/>
    <p:sldId id="1659" r:id="rId8"/>
    <p:sldId id="1664" r:id="rId9"/>
    <p:sldId id="1669" r:id="rId10"/>
    <p:sldId id="1670" r:id="rId11"/>
    <p:sldId id="16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199A8-0E51-6A40-A022-8B010CF0820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73029-27E3-8543-A32E-A5F98E9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84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DB54-E347-6A46-9D4A-CCC3EEFD98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44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E21EE9-C0FB-4D97-A746-BA35C800464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</p:spTree>
    <p:extLst>
      <p:ext uri="{BB962C8B-B14F-4D97-AF65-F5344CB8AC3E}">
        <p14:creationId xmlns:p14="http://schemas.microsoft.com/office/powerpoint/2010/main" val="4178083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Iterative process</a:t>
            </a:r>
          </a:p>
          <a:p>
            <a:r>
              <a:rPr lang="en-US" dirty="0"/>
              <a:t>For smaller problems not all steps need be discrete</a:t>
            </a:r>
          </a:p>
          <a:p>
            <a:r>
              <a:rPr lang="en-US" dirty="0"/>
              <a:t>For larger problems it must be</a:t>
            </a:r>
          </a:p>
          <a:p>
            <a:r>
              <a:rPr lang="en-US" dirty="0"/>
              <a:t>Does not include debugging, etc.</a:t>
            </a:r>
          </a:p>
          <a:p>
            <a:r>
              <a:rPr lang="en-US" dirty="0"/>
              <a:t>5 </a:t>
            </a:r>
            <a:r>
              <a:rPr lang="en-US" dirty="0" err="1"/>
              <a:t>Hows</a:t>
            </a:r>
            <a:r>
              <a:rPr lang="en-US" dirty="0"/>
              <a:t>? ~ 5 Whys?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98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separates two hard parts of programming – problem solving (computational thinking) and implementation (programming language)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1EE9-C0FB-4D97-A746-BA35C800464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79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problem, don’t overthink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15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problem, don’t overthink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77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problem, don’t overthink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63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problem, don’t overthink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5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4F96-098F-EA14-5DE8-E4609D02E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F19B-C1E3-E118-512A-12BDD5720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184E0-7BB2-F596-B2C8-CD212769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C81B4-143A-C569-4D2D-5297AAE1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76ECC-6A6F-3A8B-A8F1-79B73335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37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CC36-6FDE-4033-5E37-93A5B759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F6DA4-DDF1-6A51-2BC5-F292E3FF6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E1C33-10AB-7AD2-7651-141295D6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6D7CA-62C2-9CFA-55C4-D54FC85F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C630B-1A90-C84F-AC7F-80856BD0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9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7D2E-50F6-5E57-E6E8-C7691CD3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F9424-1055-211E-BE06-3EFB1D1D7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5723E-5BC1-31E5-2992-0FE2B1C6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95AA2-C926-58D2-A182-07DB57952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F48C-A308-5166-4083-BE2F8D5C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4E6A7-2E58-E8B3-F1A0-79BA290A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93244-FC36-D731-C4A9-6CD7A0355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10457-AB8B-4818-DFA6-82CE61E02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E5742-8C82-B219-27F1-047DAE0A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96F9A-0DC9-D8A1-C37A-B1CBEF47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09DE5-CD04-88BF-FEE1-403E2734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2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EB0D-5743-8017-91C8-E1EE0369A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FF850-A36B-410A-5672-E22574F4A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BEE2B-6BD7-30D2-7B4F-D0EF4941F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490BF-9111-8269-724B-6AAFE3129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E6E58-51B2-F952-5D53-C4838E914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91B98-8FC5-12C7-331C-B2A98832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B3872-12FA-79EB-BA87-80927531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DB547-9858-AFED-BD22-954B74C3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8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9B03-6F40-D65F-E0EE-1AB8B1C4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DF340-BA85-6F94-B74A-B3F604D3A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7E32D-BFA0-5E8E-40F9-46E6557D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BD34A-1F3F-4436-BBD9-44149B7D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8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9AA99-5B9B-14F2-5D48-6B070200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82ADB-390D-0B05-5212-0C3F479C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4982E-C8E6-5E43-E1C5-F6F7404F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3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7B50A-E819-4A74-FD34-8D8FA879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8C90-5428-238C-0D7C-E6D06F6D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5A0DB-84B5-90A0-6EA3-5430C1819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0B765-C251-9277-D141-08EE9683B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C10A0-B904-08B2-E073-376780C8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6852F-C4EE-54A9-746E-632DA76E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21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70DD-7494-C5A4-D7B4-E310273E9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10796-D173-8275-2CE7-25468EA28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DF1A5-B094-075C-CBC6-AD7F8C31C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0740D-55E7-F7DE-7383-E912CF61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39A41-F493-246C-D0ED-EABAF8F0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805A5-666D-8C69-88A7-6A6C82B2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8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AC427-DA2F-341E-548C-4F52CEAE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5E5DF-554C-388C-7AAF-5BFAF827C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BD8FE-065D-2D45-0170-A9A21216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EADBD-A990-6042-52ED-7AEB6BC6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A84B8-6858-2906-06B4-45F7CA04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78923-42D3-3CCF-DF90-9561176F3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80C0B-C59A-BC7D-1247-B07A5EC59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3DE9B-B197-51FB-FE5C-87B999D7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0533C-ECB5-7456-43DB-C4B4FADA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E420A-0E7F-5FF9-5956-19BC6DB3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1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E9929-075B-695A-512D-09006B1B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05691-C1D8-2F3D-598F-DB901F257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AC080-5781-0667-AA6C-FC3D0EE80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E1AD9-649D-2FFF-6246-F9645FAF8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82800" y="6492875"/>
            <a:ext cx="802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Industrial &amp; Systems Engineering, Auburn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BB499-595E-C6A5-6512-311C7336A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8B41D-78BF-D443-B53E-1E5A984D4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6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rriamwebster.com/dictionary/algorith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0ED3-F5AC-D949-946B-07A488AE8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Programming and Database Applications for ISE</a:t>
            </a:r>
            <a:br>
              <a:rPr lang="en-US" dirty="0"/>
            </a:br>
            <a:r>
              <a:rPr lang="en-US" sz="3600" dirty="0"/>
              <a:t>INSY 3010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AB97D-29B1-9F4C-940B-B69D4156B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3028"/>
            <a:ext cx="9144000" cy="116477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Pseudocode and Problem Solving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Dan O’Leary // </a:t>
            </a:r>
            <a:r>
              <a:rPr lang="en-US" dirty="0" err="1"/>
              <a:t>dan.oleary@auburn.edu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452E2-0C0B-A744-9A6F-97F4AD4A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347961-549E-414F-B670-EE854F0E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FFCBD-6F1F-F34F-B00F-268BDD8F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8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a problem and breaking it down into a sequence of steps to solve it – an </a:t>
            </a:r>
            <a:r>
              <a:rPr lang="en-US" b="1" dirty="0"/>
              <a:t>algorithm</a:t>
            </a:r>
          </a:p>
          <a:p>
            <a:r>
              <a:rPr lang="en-US" dirty="0"/>
              <a:t>Algorithm: a step-by-step procedure for solving a problem or accomplishing some end especially by a computer.</a:t>
            </a:r>
            <a:br>
              <a:rPr lang="en-US" dirty="0"/>
            </a:br>
            <a:r>
              <a:rPr lang="en-US" sz="2000" i="1" dirty="0">
                <a:hlinkClick r:id="rId3"/>
              </a:rPr>
              <a:t>http://www.merriamwebster.com/dictionary/algorithm</a:t>
            </a:r>
            <a:endParaRPr lang="en-US" sz="2000" i="1" dirty="0"/>
          </a:p>
          <a:p>
            <a:r>
              <a:rPr lang="en-US" dirty="0"/>
              <a:t>How?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7923-251A-4DF2-B41B-173F514ECF2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1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210C-BD8F-2248-BFF0-5AC2D8AB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“Computational Thinking” Approach</a:t>
            </a:r>
            <a:br>
              <a:rPr lang="en-US" dirty="0"/>
            </a:br>
            <a:r>
              <a:rPr lang="en-US" sz="2400" dirty="0"/>
              <a:t>Problem to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F5F38-5DCA-F140-97DF-A60419744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Understand the </a:t>
            </a:r>
            <a:r>
              <a:rPr lang="en-US" b="1" dirty="0"/>
              <a:t>problem</a:t>
            </a:r>
          </a:p>
          <a:p>
            <a:pPr lvl="1"/>
            <a:r>
              <a:rPr lang="en-US" dirty="0"/>
              <a:t>What do I have to accomplish? → Identify requirements</a:t>
            </a:r>
          </a:p>
          <a:p>
            <a:r>
              <a:rPr lang="en-US" dirty="0"/>
              <a:t>Develop a </a:t>
            </a:r>
            <a:r>
              <a:rPr lang="en-US" b="1" dirty="0"/>
              <a:t>strategy</a:t>
            </a:r>
          </a:p>
          <a:p>
            <a:pPr lvl="1"/>
            <a:r>
              <a:rPr lang="en-US" dirty="0"/>
              <a:t>How will I approach the problem? → Break it down (decompose)</a:t>
            </a:r>
          </a:p>
          <a:p>
            <a:r>
              <a:rPr lang="en-US" dirty="0"/>
              <a:t>Design required </a:t>
            </a:r>
            <a:r>
              <a:rPr lang="en-US" b="1" dirty="0"/>
              <a:t>algorithms</a:t>
            </a:r>
          </a:p>
          <a:p>
            <a:pPr lvl="1"/>
            <a:r>
              <a:rPr lang="en-US" dirty="0"/>
              <a:t>How will I solve the problem(s)? → Procedures</a:t>
            </a:r>
          </a:p>
          <a:p>
            <a:r>
              <a:rPr lang="en-US" dirty="0"/>
              <a:t>Document the solution</a:t>
            </a:r>
          </a:p>
          <a:p>
            <a:pPr lvl="1"/>
            <a:r>
              <a:rPr lang="en-US" dirty="0"/>
              <a:t>How do I communicate the plan? → </a:t>
            </a:r>
            <a:r>
              <a:rPr lang="en-US" b="1" dirty="0"/>
              <a:t>Pseudocode</a:t>
            </a:r>
          </a:p>
          <a:p>
            <a:r>
              <a:rPr lang="en-US" dirty="0"/>
              <a:t>Write the </a:t>
            </a:r>
            <a:r>
              <a:rPr lang="en-US" b="1" dirty="0"/>
              <a:t>code</a:t>
            </a:r>
          </a:p>
          <a:p>
            <a:pPr lvl="1"/>
            <a:r>
              <a:rPr lang="en-US" dirty="0"/>
              <a:t>How do I implement the pseudocode? → Python!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6E6F-D80E-C241-8895-200C5603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462A3-E861-1E48-B543-CF9C298D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52A9A-65FF-214B-BCC0-2678B9AD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Writing Algorithms - Pseudocode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altLang="en-US" dirty="0"/>
              <a:t>Pseudocode is </a:t>
            </a:r>
            <a:r>
              <a:rPr lang="en-US" altLang="en-US" u="sng" dirty="0"/>
              <a:t>a kind of “structured English” for describing algorithms</a:t>
            </a:r>
            <a:r>
              <a:rPr lang="en-US" altLang="en-US" dirty="0"/>
              <a:t>. It </a:t>
            </a:r>
            <a:r>
              <a:rPr lang="en-US" altLang="en-US" u="sng" dirty="0"/>
              <a:t>allows the designer to focus on the logic of the algorithm without being distracted by details of language syntax</a:t>
            </a:r>
            <a:r>
              <a:rPr lang="en-US" altLang="en-US" dirty="0"/>
              <a:t> (e.g., Python, C++, or Java).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Alternatively, pseudocode is a narrative for someone who knows the requirement (problem domain) and is trying to learn how the solution is organized.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Before writing the code for a problem in a certain programming language, we describe the entire logic of the algorithm in pseudocode so that </a:t>
            </a:r>
            <a:r>
              <a:rPr lang="en-US" altLang="en-US" u="sng" dirty="0"/>
              <a:t>implementation becomes a rote mechanical task of translating line by line into source code</a:t>
            </a:r>
            <a:r>
              <a:rPr lang="en-US" altLang="en-US" dirty="0"/>
              <a:t>.</a:t>
            </a:r>
          </a:p>
          <a:p>
            <a:pPr>
              <a:spcAft>
                <a:spcPts val="600"/>
              </a:spcAft>
            </a:pPr>
            <a:endParaRPr lang="en-US" altLang="en-US" dirty="0"/>
          </a:p>
          <a:p>
            <a:pPr>
              <a:spcAft>
                <a:spcPts val="600"/>
              </a:spcAft>
            </a:pPr>
            <a:endParaRPr lang="en-US" altLang="en-US" dirty="0"/>
          </a:p>
          <a:p>
            <a:pPr>
              <a:spcAft>
                <a:spcPts val="600"/>
              </a:spcAft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7923-251A-4DF2-B41B-173F514ECF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1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0FCE-B70D-CB46-AE34-C74505D7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Trivial Example: MAX value…</a:t>
            </a:r>
            <a:br>
              <a:rPr lang="en-US" dirty="0"/>
            </a:br>
            <a:r>
              <a:rPr lang="en-US" sz="3100" b="1" dirty="0">
                <a:latin typeface="+mn-lt"/>
              </a:rPr>
              <a:t>Write a program to identify the largest number in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7B00-2A85-4547-9616-402D54F1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 7, 12, 1, -1, 5, 10 </a:t>
            </a:r>
          </a:p>
          <a:p>
            <a:r>
              <a:rPr lang="en-US" dirty="0">
                <a:solidFill>
                  <a:srgbClr val="FF0000"/>
                </a:solidFill>
              </a:rPr>
              <a:t>Problem?</a:t>
            </a:r>
          </a:p>
          <a:p>
            <a:r>
              <a:rPr lang="en-US" dirty="0">
                <a:solidFill>
                  <a:srgbClr val="FF0000"/>
                </a:solidFill>
              </a:rPr>
              <a:t>Strategy?</a:t>
            </a:r>
          </a:p>
          <a:p>
            <a:r>
              <a:rPr lang="en-US" dirty="0">
                <a:solidFill>
                  <a:srgbClr val="FF0000"/>
                </a:solidFill>
              </a:rPr>
              <a:t>Algorithm?</a:t>
            </a:r>
          </a:p>
          <a:p>
            <a:r>
              <a:rPr lang="en-US" dirty="0"/>
              <a:t>Pseudo code</a:t>
            </a:r>
          </a:p>
          <a:p>
            <a:r>
              <a:rPr lang="en-US" dirty="0"/>
              <a:t>Python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Intuition (look at the list and see it) → Pseudo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A617-66C8-B643-A8F9-6FB9FBD5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CDED-7FD9-CD4D-9849-D41480E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054F-F1C4-834E-AA79-65881CB7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7B00-2A85-4547-9616-402D54F1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Problem?</a:t>
            </a:r>
          </a:p>
          <a:p>
            <a:pPr lvl="1"/>
            <a:r>
              <a:rPr lang="en-US" sz="2800" dirty="0"/>
              <a:t>Find the max value</a:t>
            </a:r>
          </a:p>
          <a:p>
            <a:r>
              <a:rPr lang="en-US" dirty="0"/>
              <a:t>Strategy?</a:t>
            </a:r>
          </a:p>
          <a:p>
            <a:pPr lvl="1"/>
            <a:r>
              <a:rPr lang="en-US" sz="2800" dirty="0"/>
              <a:t>Look through the list and select the highest number</a:t>
            </a:r>
          </a:p>
          <a:p>
            <a:r>
              <a:rPr lang="en-US" dirty="0"/>
              <a:t>Algorithm?</a:t>
            </a:r>
          </a:p>
          <a:p>
            <a:pPr lvl="1"/>
            <a:r>
              <a:rPr lang="en-US" sz="2800" dirty="0"/>
              <a:t>assume the first value in the list is the largest</a:t>
            </a:r>
          </a:p>
          <a:p>
            <a:pPr lvl="1"/>
            <a:r>
              <a:rPr lang="en-US" sz="2800" dirty="0"/>
              <a:t>look at each value in the list</a:t>
            </a:r>
          </a:p>
          <a:p>
            <a:pPr lvl="2"/>
            <a:r>
              <a:rPr lang="en-US" sz="2800" dirty="0"/>
              <a:t>if that value is larger than the current max, update max</a:t>
            </a:r>
          </a:p>
          <a:p>
            <a:pPr lvl="1"/>
            <a:r>
              <a:rPr lang="en-US" sz="2800" dirty="0"/>
              <a:t>print the result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A617-66C8-B643-A8F9-6FB9FBD5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CDED-7FD9-CD4D-9849-D41480E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054F-F1C4-834E-AA79-65881CB7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7F9CDF-C3DD-7340-9E85-53C27B3B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Trivial Example: MAX value…</a:t>
            </a:r>
            <a:br>
              <a:rPr lang="en-US" dirty="0"/>
            </a:br>
            <a:r>
              <a:rPr lang="en-US" sz="3100" b="1" dirty="0">
                <a:latin typeface="+mn-lt"/>
              </a:rPr>
              <a:t>Write a program to identify the largest number in a list</a:t>
            </a:r>
          </a:p>
        </p:txBody>
      </p:sp>
    </p:spTree>
    <p:extLst>
      <p:ext uri="{BB962C8B-B14F-4D97-AF65-F5344CB8AC3E}">
        <p14:creationId xmlns:p14="http://schemas.microsoft.com/office/powerpoint/2010/main" val="215715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7B00-2A85-4547-9616-402D54F1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Pseudocode:</a:t>
            </a:r>
          </a:p>
          <a:p>
            <a:pPr lvl="1"/>
            <a:r>
              <a:rPr lang="en-US" sz="2800" dirty="0"/>
              <a:t>SET Max to value of first item in List</a:t>
            </a:r>
          </a:p>
          <a:p>
            <a:pPr lvl="1"/>
            <a:r>
              <a:rPr lang="en-US" sz="2800" dirty="0"/>
              <a:t>FOR every other Item in List</a:t>
            </a:r>
          </a:p>
          <a:p>
            <a:pPr lvl="2"/>
            <a:r>
              <a:rPr lang="en-US" sz="2800" dirty="0"/>
              <a:t>IF Item &gt; Max</a:t>
            </a:r>
          </a:p>
          <a:p>
            <a:pPr lvl="3"/>
            <a:r>
              <a:rPr lang="en-US" sz="2800" dirty="0"/>
              <a:t>Max = Item</a:t>
            </a:r>
          </a:p>
          <a:p>
            <a:pPr lvl="1"/>
            <a:r>
              <a:rPr lang="en-US" sz="2800" dirty="0"/>
              <a:t>PRINT Max</a:t>
            </a:r>
          </a:p>
          <a:p>
            <a:r>
              <a:rPr lang="en-US" dirty="0"/>
              <a:t>Note:</a:t>
            </a:r>
          </a:p>
          <a:p>
            <a:pPr lvl="1"/>
            <a:r>
              <a:rPr lang="en-US" sz="2800" dirty="0">
                <a:highlight>
                  <a:srgbClr val="FFFF00"/>
                </a:highlight>
              </a:rPr>
              <a:t>Semi-formal language</a:t>
            </a:r>
          </a:p>
          <a:p>
            <a:pPr lvl="1"/>
            <a:r>
              <a:rPr lang="en-US" sz="2800" dirty="0">
                <a:highlight>
                  <a:srgbClr val="FFFF00"/>
                </a:highlight>
              </a:rPr>
              <a:t>Indenting shows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A617-66C8-B643-A8F9-6FB9FBD5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CDED-7FD9-CD4D-9849-D41480E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054F-F1C4-834E-AA79-65881CB7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7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7F9CDF-C3DD-7340-9E85-53C27B3B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Trivial Example: MAX value…</a:t>
            </a:r>
            <a:br>
              <a:rPr lang="en-US" dirty="0"/>
            </a:br>
            <a:r>
              <a:rPr lang="en-US" sz="3100" b="1" dirty="0">
                <a:latin typeface="+mn-lt"/>
              </a:rPr>
              <a:t>Write a program to identify the largest number in a list</a:t>
            </a:r>
          </a:p>
        </p:txBody>
      </p:sp>
    </p:spTree>
    <p:extLst>
      <p:ext uri="{BB962C8B-B14F-4D97-AF65-F5344CB8AC3E}">
        <p14:creationId xmlns:p14="http://schemas.microsoft.com/office/powerpoint/2010/main" val="288794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06E0D-E509-834C-869F-E50CB816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Pillars of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E367B-0757-554B-A763-F5F954DB4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01244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Assignment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Sequence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Repetition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sz="3200" b="1" i="1" dirty="0"/>
              <a:t>Spot them in this code?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9D34-9199-5B43-A2FE-1C98BC0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D9924-E6F6-C24D-921A-6AFC3F17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A2EC-391B-D947-AF6F-CC7671A6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007C0-9720-E14F-93D6-9F21E53FA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2100" y="1648840"/>
            <a:ext cx="6441440" cy="4680682"/>
          </a:xfrm>
          <a:prstGeom prst="rect">
            <a:avLst/>
          </a:prstGeom>
        </p:spPr>
      </p:pic>
      <p:pic>
        <p:nvPicPr>
          <p:cNvPr id="9" name="Graphic 8" descr="Badge 1 with solid fill">
            <a:extLst>
              <a:ext uri="{FF2B5EF4-FFF2-40B4-BE49-F238E27FC236}">
                <a16:creationId xmlns:a16="http://schemas.microsoft.com/office/drawing/2014/main" id="{DB5772A1-FB9B-594D-8606-213239B20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0" y="3200400"/>
            <a:ext cx="457200" cy="45720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774ADFF-56DC-3347-A411-D2733D2DB424}"/>
              </a:ext>
            </a:extLst>
          </p:cNvPr>
          <p:cNvGrpSpPr/>
          <p:nvPr/>
        </p:nvGrpSpPr>
        <p:grpSpPr>
          <a:xfrm>
            <a:off x="6908800" y="4343400"/>
            <a:ext cx="774700" cy="711200"/>
            <a:chOff x="6908800" y="4343400"/>
            <a:chExt cx="774700" cy="711200"/>
          </a:xfrm>
        </p:grpSpPr>
        <p:pic>
          <p:nvPicPr>
            <p:cNvPr id="17" name="Graphic 16" descr="Badge 4 with solid fill">
              <a:extLst>
                <a:ext uri="{FF2B5EF4-FFF2-40B4-BE49-F238E27FC236}">
                  <a16:creationId xmlns:a16="http://schemas.microsoft.com/office/drawing/2014/main" id="{CC83A807-F875-AA4D-AD6A-E2B6C813CE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6300" y="4445080"/>
              <a:ext cx="457200" cy="457200"/>
            </a:xfrm>
            <a:prstGeom prst="rect">
              <a:avLst/>
            </a:prstGeom>
          </p:spPr>
        </p:pic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3EA6C826-2DE4-EB48-8077-9B02C69D23E3}"/>
                </a:ext>
              </a:extLst>
            </p:cNvPr>
            <p:cNvSpPr/>
            <p:nvPr/>
          </p:nvSpPr>
          <p:spPr>
            <a:xfrm>
              <a:off x="6908800" y="4343400"/>
              <a:ext cx="279400" cy="711200"/>
            </a:xfrm>
            <a:prstGeom prst="rightBrac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D00E48A-5215-E849-80B7-7393B581979F}"/>
              </a:ext>
            </a:extLst>
          </p:cNvPr>
          <p:cNvGrpSpPr/>
          <p:nvPr/>
        </p:nvGrpSpPr>
        <p:grpSpPr>
          <a:xfrm>
            <a:off x="3695700" y="4460081"/>
            <a:ext cx="939800" cy="457200"/>
            <a:chOff x="3695700" y="4460081"/>
            <a:chExt cx="939800" cy="457200"/>
          </a:xfrm>
        </p:grpSpPr>
        <p:pic>
          <p:nvPicPr>
            <p:cNvPr id="15" name="Graphic 14" descr="Badge 3 with solid fill">
              <a:extLst>
                <a:ext uri="{FF2B5EF4-FFF2-40B4-BE49-F238E27FC236}">
                  <a16:creationId xmlns:a16="http://schemas.microsoft.com/office/drawing/2014/main" id="{63F1FC6D-6391-014A-AB9B-2E53F6F518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95700" y="4460081"/>
              <a:ext cx="457200" cy="457200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26F457D-CB07-C942-9176-040F1AAA942E}"/>
                </a:ext>
              </a:extLst>
            </p:cNvPr>
            <p:cNvCxnSpPr>
              <a:cxnSpLocks/>
            </p:cNvCxnSpPr>
            <p:nvPr/>
          </p:nvCxnSpPr>
          <p:spPr>
            <a:xfrm>
              <a:off x="4102100" y="4673600"/>
              <a:ext cx="533400" cy="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1A4B590-AF9F-FC4A-9FBF-D035B3059EA2}"/>
              </a:ext>
            </a:extLst>
          </p:cNvPr>
          <p:cNvGrpSpPr/>
          <p:nvPr/>
        </p:nvGrpSpPr>
        <p:grpSpPr>
          <a:xfrm>
            <a:off x="10795000" y="1690688"/>
            <a:ext cx="558800" cy="4100512"/>
            <a:chOff x="10795000" y="1690688"/>
            <a:chExt cx="558800" cy="4100512"/>
          </a:xfrm>
        </p:grpSpPr>
        <p:pic>
          <p:nvPicPr>
            <p:cNvPr id="13" name="Graphic 12" descr="Badge with solid fill">
              <a:extLst>
                <a:ext uri="{FF2B5EF4-FFF2-40B4-BE49-F238E27FC236}">
                  <a16:creationId xmlns:a16="http://schemas.microsoft.com/office/drawing/2014/main" id="{066CECF6-F182-7540-A914-15A722388C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896600" y="3556794"/>
              <a:ext cx="457200" cy="457200"/>
            </a:xfrm>
            <a:prstGeom prst="rect">
              <a:avLst/>
            </a:prstGeom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D0F4A95-B7EF-A249-904B-B7D04ACB7D1B}"/>
                </a:ext>
              </a:extLst>
            </p:cNvPr>
            <p:cNvCxnSpPr>
              <a:cxnSpLocks/>
            </p:cNvCxnSpPr>
            <p:nvPr/>
          </p:nvCxnSpPr>
          <p:spPr>
            <a:xfrm>
              <a:off x="10795000" y="1690688"/>
              <a:ext cx="0" cy="4100512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05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0FCE-B70D-CB46-AE34-C74505D7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2nd Example: Sample Mean…</a:t>
            </a:r>
            <a:br>
              <a:rPr lang="en-US" dirty="0"/>
            </a:br>
            <a:r>
              <a:rPr lang="en-US" sz="3100" b="1" dirty="0">
                <a:latin typeface="+mn-lt"/>
              </a:rPr>
              <a:t>Compute the sample mean for a list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7B00-2A85-4547-9616-402D54F1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Problem?</a:t>
            </a:r>
          </a:p>
          <a:p>
            <a:r>
              <a:rPr lang="en-US" dirty="0">
                <a:solidFill>
                  <a:srgbClr val="FF0000"/>
                </a:solidFill>
              </a:rPr>
              <a:t>Strategy?</a:t>
            </a:r>
          </a:p>
          <a:p>
            <a:r>
              <a:rPr lang="en-US" dirty="0">
                <a:solidFill>
                  <a:srgbClr val="FF0000"/>
                </a:solidFill>
              </a:rPr>
              <a:t>Algorithm?</a:t>
            </a:r>
          </a:p>
          <a:p>
            <a:r>
              <a:rPr lang="en-US" dirty="0"/>
              <a:t>Pseudo code</a:t>
            </a:r>
          </a:p>
          <a:p>
            <a:r>
              <a:rPr lang="en-US" dirty="0"/>
              <a:t>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A617-66C8-B643-A8F9-6FB9FBD5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CDED-7FD9-CD4D-9849-D41480E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054F-F1C4-834E-AA79-65881CB7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A2287-8C1F-7248-8EA0-6A2A273B2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2283461"/>
            <a:ext cx="64643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3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0FCE-B70D-CB46-AE34-C74505D7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2nd Example: Sample Mean…</a:t>
            </a:r>
            <a:br>
              <a:rPr lang="en-US" dirty="0"/>
            </a:br>
            <a:r>
              <a:rPr lang="en-US" sz="3100" b="1" dirty="0">
                <a:latin typeface="+mn-lt"/>
              </a:rPr>
              <a:t>Compute the sample mean for a list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7B00-2A85-4547-9616-402D54F1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Problem?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Find the average value</a:t>
            </a:r>
          </a:p>
          <a:p>
            <a:pPr>
              <a:spcBef>
                <a:spcPts val="600"/>
              </a:spcBef>
            </a:pPr>
            <a:r>
              <a:rPr lang="en-US" dirty="0"/>
              <a:t>Strategy?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Divide the total of all values by the number of values</a:t>
            </a:r>
          </a:p>
          <a:p>
            <a:pPr>
              <a:spcBef>
                <a:spcPts val="600"/>
              </a:spcBef>
            </a:pPr>
            <a:r>
              <a:rPr lang="en-US" dirty="0"/>
              <a:t>Algorithm?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Loop through the list to count number of items and sum values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Calculate average by dividing the list total sum by number of items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Print the result</a:t>
            </a:r>
          </a:p>
          <a:p>
            <a:pPr lvl="1">
              <a:spcBef>
                <a:spcPts val="600"/>
              </a:spcBef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A617-66C8-B643-A8F9-6FB9FBD5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CDED-7FD9-CD4D-9849-D41480E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054F-F1C4-834E-AA79-65881CB7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A2287-8C1F-7248-8EA0-6A2A273B27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3200" y="365125"/>
            <a:ext cx="2489200" cy="152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8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0FCE-B70D-CB46-AE34-C74505D7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2nd Example: Sample Mean…</a:t>
            </a:r>
            <a:br>
              <a:rPr lang="en-US" dirty="0"/>
            </a:br>
            <a:r>
              <a:rPr lang="en-US" sz="3100" b="1" dirty="0">
                <a:latin typeface="+mn-lt"/>
              </a:rPr>
              <a:t>Compute the sample mean for a list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7B00-2A85-4547-9616-402D54F1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Pseudocode: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SET Count = 0, Total = 0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FOR each Item in the List</a:t>
            </a:r>
          </a:p>
          <a:p>
            <a:pPr lvl="2">
              <a:spcBef>
                <a:spcPts val="600"/>
              </a:spcBef>
            </a:pPr>
            <a:r>
              <a:rPr lang="en-US" sz="2800" dirty="0"/>
              <a:t>INCREMENT Count</a:t>
            </a:r>
          </a:p>
          <a:p>
            <a:pPr lvl="2">
              <a:spcBef>
                <a:spcPts val="600"/>
              </a:spcBef>
            </a:pPr>
            <a:r>
              <a:rPr lang="en-US" sz="2800" dirty="0"/>
              <a:t>INCREMENT Total by Item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Avg = Total / Count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Print Avg</a:t>
            </a:r>
          </a:p>
          <a:p>
            <a:pPr>
              <a:spcBef>
                <a:spcPts val="600"/>
              </a:spcBef>
            </a:pPr>
            <a:r>
              <a:rPr lang="en-US" dirty="0"/>
              <a:t>Note:</a:t>
            </a:r>
          </a:p>
          <a:p>
            <a:pPr lvl="1">
              <a:spcBef>
                <a:spcPts val="600"/>
              </a:spcBef>
            </a:pPr>
            <a:r>
              <a:rPr lang="en-US" sz="2800" dirty="0"/>
              <a:t>“INCREMENT Count” and “Count = Count + 1” are equivalent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A617-66C8-B643-A8F9-6FB9FBD5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CDED-7FD9-CD4D-9849-D41480E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054F-F1C4-834E-AA79-65881CB7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A2287-8C1F-7248-8EA0-6A2A273B27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3200" y="365125"/>
            <a:ext cx="2489200" cy="152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95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808</Words>
  <Application>Microsoft Macintosh PowerPoint</Application>
  <PresentationFormat>Widescreen</PresentationFormat>
  <Paragraphs>137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Programming and Database Applications for ISE INSY 3010</vt:lpstr>
      <vt:lpstr>Computational Thinking</vt:lpstr>
      <vt:lpstr>“Computational Thinking” Approach Problem to Program</vt:lpstr>
      <vt:lpstr>Writing Algorithms - Pseudocode</vt:lpstr>
      <vt:lpstr>Trivial Example: MAX value… Write a program to identify the largest number in a list</vt:lpstr>
      <vt:lpstr>Trivial Example: MAX value… Write a program to identify the largest number in a list</vt:lpstr>
      <vt:lpstr>Trivial Example: MAX value… Write a program to identify the largest number in a list</vt:lpstr>
      <vt:lpstr>The Four Pillars of Programming</vt:lpstr>
      <vt:lpstr>2nd Example: Sample Mean… Compute the sample mean for a list of numbers</vt:lpstr>
      <vt:lpstr>2nd Example: Sample Mean… Compute the sample mean for a list of numbers</vt:lpstr>
      <vt:lpstr>2nd Example: Sample Mean… Compute the sample mean for a list of numbers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O'Leary</dc:creator>
  <cp:lastModifiedBy>Dan O'Leary</cp:lastModifiedBy>
  <cp:revision>13</cp:revision>
  <dcterms:created xsi:type="dcterms:W3CDTF">2024-08-29T10:27:04Z</dcterms:created>
  <dcterms:modified xsi:type="dcterms:W3CDTF">2026-09-18T00:02:02Z</dcterms:modified>
</cp:coreProperties>
</file>