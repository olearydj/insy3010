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1662" r:id="rId2"/>
    <p:sldId id="256" r:id="rId3"/>
    <p:sldId id="264" r:id="rId4"/>
    <p:sldId id="1629" r:id="rId5"/>
    <p:sldId id="257" r:id="rId6"/>
    <p:sldId id="270" r:id="rId7"/>
    <p:sldId id="259" r:id="rId8"/>
    <p:sldId id="1623" r:id="rId9"/>
    <p:sldId id="1628" r:id="rId10"/>
    <p:sldId id="1656" r:id="rId11"/>
    <p:sldId id="371" r:id="rId12"/>
    <p:sldId id="1636" r:id="rId13"/>
    <p:sldId id="1637" r:id="rId14"/>
    <p:sldId id="1630" r:id="rId15"/>
    <p:sldId id="1657" r:id="rId16"/>
    <p:sldId id="1631" r:id="rId17"/>
    <p:sldId id="1649" r:id="rId18"/>
    <p:sldId id="1652" r:id="rId19"/>
    <p:sldId id="1650" r:id="rId20"/>
    <p:sldId id="258" r:id="rId21"/>
    <p:sldId id="1632" r:id="rId22"/>
    <p:sldId id="1658" r:id="rId23"/>
    <p:sldId id="1659" r:id="rId24"/>
    <p:sldId id="1635" r:id="rId25"/>
    <p:sldId id="1660" r:id="rId26"/>
    <p:sldId id="1633" r:id="rId27"/>
    <p:sldId id="431" r:id="rId28"/>
    <p:sldId id="1663" r:id="rId29"/>
    <p:sldId id="418" r:id="rId30"/>
    <p:sldId id="1655" r:id="rId31"/>
    <p:sldId id="421" r:id="rId32"/>
    <p:sldId id="1661" r:id="rId33"/>
    <p:sldId id="1653" r:id="rId34"/>
    <p:sldId id="1644" r:id="rId35"/>
    <p:sldId id="435" r:id="rId36"/>
    <p:sldId id="1647" r:id="rId37"/>
    <p:sldId id="443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7B4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9917"/>
    <p:restoredTop sz="96327"/>
  </p:normalViewPr>
  <p:slideViewPr>
    <p:cSldViewPr snapToGrid="0" snapToObjects="1">
      <p:cViewPr varScale="1">
        <p:scale>
          <a:sx n="81" d="100"/>
          <a:sy n="81" d="100"/>
        </p:scale>
        <p:origin x="200" y="17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9T16:09:16.89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24575,'49'0'0,"32"0"0,-18 3 0,2 1-492,-12-3 0,2 0 0,40 6 0,7 2 0,-12-4 0,7 0 246,-24-1 0,6 1 0,4 0 0,-2 0 0,-2-1 0,-1 1 0,2 0 0,1-1 0,9 0 0,2-2 0,0 1 0,-1-1 0,-6 0 0,0 0 0,-1 0 0,1 0 0,5 0 0,2 0 0,-2 0 0,-1 1 0,-12-1 0,-2 0 0,1 1 0,2 0 0,15 1 0,3 0 0,-1 1 0,-4 0-82,0 1 0,-4 0 0,6 1 131,-16-2 0,4 0 1,3 1-1,0-1 0,-3 1-49,9 2 0,-3-1 0,-1 0 0,2 1 149,3-1 0,1 1 1,0-1-1,-2 0-149,-5 0 0,0 1 0,-3-2 0,-2 1-77,12-1 0,-4 1 1,-1-2 322,-1-1 0,-1-1 0,-1 0 65,-2 0 1,-1 0 0,-1-1-66,1-2 0,-1 0 0,3 0 0,13 2 0,4 2 0,-4-2 327,-12-1 1,-3-1 0,2 2-230,15 2 0,2 3 1,-10-2-99,-9-4 0,-3 0 327,-9 4 1,2 1 0,-3-1-45,11-4 1,-1 0-284,-12 3 0,3 3 0,-1-3 0,1-3 0,-1-1 0,-3 1 0,8 6 0,-1 0 0,20-6 0,-4 0 0,10 12 0,-6-9 0,5 1 0,-18 3 0,-1 0 0,-1 0 0,2 0 0,-10-2 0,2-1 0,-2 2 0,10 5 0,1 0 0,-5-5 0,6-1 0,-6 1 0,7 5 0,-5 0 0,-5-7 0,-1 0 491,-4 2 1,-3 0-1,-11-6 1,1 0-1,21 3 1,-2-1-100,25-3 591,-23 0-295,-2 0 295,-38 0 0,52 0-67,-21 0-916,13-5 0,3-2 0,-25-5 983,-10 1 0,-12 1 0,-18 6-403,-10-2 103,2 6-683,0-3 0,-2 0 0,-42-4 0,-39-4 0,16 0 0,-7-1-492,-28-1 0,-1-1 0,24 1 0,-1 0 306,4 4 0,-4 1 0,-1 0 186,-2-1 0,0 0 0,-1 1-328,-2 1 0,-1 1 0,-3-1 82,6-1 0,-3-2 0,-1 1 0,2 1-82,-14 1 0,3 1 0,-2-2 0,-8-3 0,-2-1 0,1 0 241,21 5 1,-2-1-1,3 1 1,5 0-406,-27-6 0,1 0 164,4 3 0,-5 1 0,11 1-164,24 0 0,-1 1 164,-20 2 0,-12 2 0,8 1-136,10-3 1,4 2 463,8 2 0,-3 2 0,3-1 491,-16 0 1,7 0-1,22 0 1,0 0-472,-20 4 0,1-1-20,-19-1 0,29 1 0,-2 1 0,0 0 0,1-1 0,-5-2 0,0 0 0,-3 3 0,4-1 0,16-3 0,0 0 0,-21 4 0,-1 0 0,22-3 0,-2 0 0,-32 2 0,-5 1 353,13 3 0,1 1-353,-14-3 0,4 1 0,33 5 0,3 0 491,0-4 1,1 0 491,-42 14-898,37-9 1,-2 0 173,-3 0 0,-4 1-259,-21 3 0,-1 0 0,13-3 0,1-1 0,5 1 0,-2 0 0,-27 7 0,5 0 0,0-2 0,25 0 0,-2 1 0,1-6 0,3-1-60,-16 9 60,0-4 0,1-2 983,13-1-492,1-2 1,2 0-286,18-2 210,-35-2-416,44-5 983,0 1-122,-6-3-861,-31 2 0,28 1 0,-44 3 0,41 3 0,-27 11 0,7-7 983,3 11-591,25-14 165,-2 9-557,26-12 0,-25 13 0,24-13 0,-24 13 0,10-6 0,-14 7 0,17-6 0,2-3 0,16-7 0,-17 8 0,-13-3 0,2 4 0,-32 4 0,30-7 0,-15 6 0,13-13 0,-31 13 0,19-9 0,-10 2 0,-1 1-625,-1 0 625,-8-3 0,-2-1 0,-1 5 0,20-5 0,1-1 0,-10 6 0,1 0 0,9-2 0,-1 1 0,-20 9 0,20-9 0,1 0 0,-9 7 0,-10 1 0,16-6 0,18 0 0,32-13 0,65-2 0,29-4 0,15-1 0,-32 2 0,2 1 0,5 0-246,8-1 0,7-1 0,0 0 0,-10 1-246,15-1 0,0-1 246,-13 2 0,11-1 0,1 1 0,-8 0-82,-5 3 0,-6 1 0,8-1 131,-5 0 0,6-1 1,5 0-1,0 0 0,-3 1 0,-5 0 0,0 1 1,-1 0-1,1 0 0,1 1 0,6 0 0,1 1 1,1 0-1,0 0 0,-2-1 0,-5 0 0,-1-1 1,0 0-1,-1 1 0,0-1-49,20 2 0,-1 0 0,0 1 0,-3-1 0,-9 0 0,-3 0 0,1 0 0,4 0 49,-6 0 0,3 0 1,2 0-1,1 1 0,-1 0 0,3 0 0,1 1 1,0 0-1,0 0 0,0 1 0,0 0 0,-1 0 1,0 1-1,1 0 0,2 0 33,-10-1 0,4-1 0,0 1 0,-1 0 0,-3 1 0,-4 0-82,14 3 0,-5 1 0,-3-1 0,0 1 203,-3-3 1,-2 0-1,0 0 1,3 1 42,14 1 0,4 0 0,-2 1 0,-7-2 52,-7-1 1,-5-1 0,5 1-53,4 0 0,6 0 0,3 0 0,-3 0 0,-8 0 0,1 0 0,-3 0 0,-2-1 0,11 1 0,-4 0 0,3 0 187,-15-1 0,2 1 0,-1 0 1,-4 0-188,8-1 0,-3 0 0,-5 0 491,12 2 1,-1 1-392,-15-2 1,2 2 0,-3 0 337,13 4 1,-1 1-439,-15-3 0,4 1 0,-2 0 0,26 6 0,-3-1 0,-7-3 0,-3-1 0,-11-1 0,-6-1 0,32 3 983,-27-6 0,-27 2 0,-17-8 0,-5 3 0,-16-5 0,-1 0 0,9 0 0,1 0 0,8 0 0,-8 0 0,16 0 0,-5-5-293,28 3-690,-8-8 0,7 9 0,-24-4 0,2 1 0,-13 4 0,15-4 0,-8 4 0,7-4 0,-14 3 0,23-2 0,-19 3 0,20 0 0,18-7 0,28 5-821,5-10 821,-23 10 0,-2 2 0,-3-6 0,16 3 0,-49 2 0,0-3 0,-11 4 0,-4 0 0,-16 0 821,-42-5-821,-19-10 0,-12-8 0,-3-2 0,-8-3-328,15 4 0,-12-6 0,3 3-164,-4-1 0,-4 1 164,-5-1 0,-9-1 0,0 2 0,1 1 0,1 1 0,1 2 131,8 3 1,1 2 0,-1 1 196,-11 0 0,-1 2 0,8 1-492,8 1 0,0 0 164,-6 1 0,-8 0 0,9 1 90,10 2 0,-1 0 238,-14 0 0,-11-1 0,6 2 0,28 4 0,3 2 0,-2-2 0,-10-1 0,-2-1 0,3 1 0,-17 4 0,0 0 0,19-3 0,-4-3 0,7 3 0,-1 2 0,0 1-328,6-1 0,-4-2 0,6 2 70,9 1 0,2 2-234,-19 2 0,-2 2 480,5-1 1,2 1 502,4-1 1,1 1-1,8 2 1,5-1 125,-17-4 366,-12 4 0,54-6 0,-34 0 0,29 5 0,-13-4 0,-1 4 0,14-5-971,-1 0-12,-15 7 0,7-6 0,-16 3 0,-8-1-492,5-3 0,-6 0 164,-8 0 0,-8 0 0,6 0 4,2-1 0,-2 2 324,-12 1 0,-10 1 0,10 0-492,13-2 0,0 0 164,-18 4 0,-12 2 0,5-2 0,26-4 0,3-1 0,-2 1 0,-10 3 0,-2 3 0,-1-2 0,-4-4 0,-1-2 0,3 3 142,12 2 0,3 3 1,1-3-143,2-2 0,1-2 0,1 0 16,-26 4 0,-1 0 312,24-3 0,-1-2 0,1 1 0,-21 0 0,0 0 0,13 0 0,-3 0 0,8 0 491,5 0 1,7 0-418,-21 0-74,28 0 0,0 0 0,-16 0 0,17 3 0,-2 1 0,1 0 0,1 0 0,-46 11 983,31-6 0,16 1-881,-18-2-102,6 3 0,-13-2 983,6 3 0,24-5 0,5 1 0,6-3 0,18-1 0,4-3-305,-18 7-678,10-6 0,-39 9 0,30-6 0,-58 16 0,56-10 0,-29 3 0,38-7 0,-28 13 0,12-6 0,-51 20 0,48-22 0,-27 7 0,43-11 0,-34 5 0,30-8 0,-21 5 0,19-4 0,-3-2 0,8 4 0,2-7 0,19 2 0,-5-1 0,5-1 0,-5 2 0,5-3 0,-3 3 0,1-3 0,-1 6 0,-3-5 0,4 1 0,-1-2 0,1 0 0,-1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D4AE6C-4CAA-1147-8778-BD75F15C64FB}" type="datetimeFigureOut">
              <a:rPr lang="en-US" smtClean="0"/>
              <a:t>8/20/26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D4BED-9E30-B346-9945-439451489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473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entimeter.com/app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82DB54-E347-6A46-9D4A-CCC3EEFD981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843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Warm-Up with </a:t>
            </a:r>
            <a:r>
              <a:rPr lang="en-US" dirty="0" err="1"/>
              <a:t>menti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hlinkClick r:id="rId3"/>
              </a:rPr>
              <a:t>https://www.mentimeter.com/app</a:t>
            </a:r>
            <a:endParaRPr lang="en-US" dirty="0"/>
          </a:p>
          <a:p>
            <a:endParaRPr lang="en-US" dirty="0"/>
          </a:p>
          <a:p>
            <a:r>
              <a:rPr lang="en-US" dirty="0"/>
              <a:t>anyone know the origin of this meme?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350819-A0B0-7B40-BB3C-DC483237DFD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9565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promise… it is not foreshadowing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350819-A0B0-7B40-BB3C-DC483237DFD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4721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4D4BED-9E30-B346-9945-43945148981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0952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 by appointment, via zoom or in-person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350819-A0B0-7B40-BB3C-DC483237DFD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8822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Preparing to teach this course I met with all of the other instructors and Tas</a:t>
            </a:r>
          </a:p>
          <a:p>
            <a:r>
              <a:rPr lang="en-US" baseline="0" dirty="0"/>
              <a:t>My approach will draw from aspects of each, plus my own take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E21EE9-C0FB-4D97-A746-BA35C800464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8988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very much like a foreign language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350819-A0B0-7B40-BB3C-DC483237DFD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122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350819-A0B0-7B40-BB3C-DC483237DFD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0651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you the tools to keep 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350819-A0B0-7B40-BB3C-DC483237DFD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2386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350819-A0B0-7B40-BB3C-DC483237DFD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5260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Currently 52 students, two of which are only in 3520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82DB54-E347-6A46-9D4A-CCC3EEFD981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8612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82DB54-E347-6A46-9D4A-CCC3EEFD981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4385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82DB54-E347-6A46-9D4A-CCC3EEFD981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0873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beware the DK effect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350819-A0B0-7B40-BB3C-DC483237DFD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7630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will all grow some in the process</a:t>
            </a:r>
          </a:p>
          <a:p>
            <a:r>
              <a:rPr lang="en-US" dirty="0"/>
              <a:t>Don’t approach this class (or life) from the “what do I have to do” POV, but from the “what can I learn from this”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82DB54-E347-6A46-9D4A-CCC3EEFD981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634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EC941-2C73-CF4A-875E-462EF2017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D38E17-6F25-1F4B-A555-56B5243617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7ABE0-9BB3-A04D-AF69-BD21F7E5C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B26F9-91DD-7948-9923-E0BA2B0E3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 - INSY 3010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C9D2C-4A84-464E-8F00-61DE7F8B9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B7E71-652D-8D41-910D-7A904FEC8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282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048AE-F524-3043-B453-0C13B04FC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D71B5-5CAD-F745-85E2-755F1B1E7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AA15E-BA10-1F43-B608-7F51D380C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6281D-651E-8E4A-AF41-D277EA86F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 - INSY 3010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DF897-7153-D242-BB2D-315901CBB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B7E71-652D-8D41-910D-7A904FEC8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738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861FF-5087-1044-BA54-92ECCF0BC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AADB10-83AA-AA4F-9A9C-FFF733570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6B745-174C-7045-88C8-91DB38360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1AECE-EC40-EE4B-B548-ECA00A199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 - INSY 3010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AC721-69D0-B344-838A-3E3C4A61B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B7E71-652D-8D41-910D-7A904FEC8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578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3A648-57BD-AA46-8674-BA86E3EC8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67B09-15DF-5D4E-BD7B-84172D684B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23691-753A-C140-A867-A88D2BE55A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AEB677-42CB-D646-850E-D9C1256E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85BB2B-2321-BA43-BB5F-6BA54BB6E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 - INSY 3010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FEE804-2A0C-C543-8936-C7ACDEF68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B7E71-652D-8D41-910D-7A904FEC8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910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460E1-CD45-2045-A2A1-2BBA0E010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74BA10-73D9-214D-B772-A1AE0607D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71E198-6D45-D449-AABD-2A4BD32BBE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F1828E-2D3C-6244-A6C0-A6B81DFF17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34E578-1605-154B-B0BA-536C6F546C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B7C154-AC93-DD41-B1CA-198E1B664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ED77C4-198A-E743-8DD3-E2241EFEF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 - INSY 3010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89F800-CD5C-CB47-BC62-1502097D2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B7E71-652D-8D41-910D-7A904FEC8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320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25FF8-1F26-2E46-82EB-E223DBFCD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5857DF-58F9-B848-AD62-4B37C1A0A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9E3026-296E-1F47-8BEE-76C0600C1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 - INSY 3010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243F18-3ED1-1B48-B496-79326B2F6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B7E71-652D-8D41-910D-7A904FEC8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495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3CC3AB-1721-EC4D-8F08-DBD362829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1E7E1D-3BA6-744D-997E-3754F042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 - INSY 3010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36EBDF-7A66-0349-8E79-44DBFAD9B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B7E71-652D-8D41-910D-7A904FEC8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352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04605-8736-E64B-BE73-4234270AB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DE5A4-9103-1F47-8A02-E15655EC6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73DE45-83C9-2B40-80F9-38CFC33C2F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074D2E-9F9B-CC42-A97D-61DCD8032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339B03-6A2D-8443-B8F3-3141D87E0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 - INSY 3010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D49F25-B370-104C-ACAD-B94731B4A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B7E71-652D-8D41-910D-7A904FEC8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289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5F813-569F-9140-805E-54EC2D782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0ED04F-8BCA-5641-A408-789EBF90DE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027823-00EA-7A43-B21B-690DCDB783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588457-1351-7741-A628-93DBA7288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D0F8F7-D1BA-C24E-AA6F-EBE88829E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 - INSY 3010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06A3C9-980A-7644-B67A-280923D6B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B7E71-652D-8D41-910D-7A904FEC8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286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2136C-BC77-704B-8E62-6874EF030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A589AE-8913-394A-ABF7-50F42FB00B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1B104-8249-7743-9145-33423EFF1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D60C2-5D3A-C344-9977-044AE343B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 - INSY 3010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4CC70-B247-6745-8E5C-D74D184FF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B7E71-652D-8D41-910D-7A904FEC8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51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E969BF-21CB-E440-99D4-422ECCF08C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BA4227-8FDC-094E-B514-8D1255F7DA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4814E-CD5B-1D46-B00A-CDF577B75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37779-DFDB-CE4A-9F3C-FF804117E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 - INSY 3010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59C0F-F0FB-F140-87AC-DABBC2BF2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B7E71-652D-8D41-910D-7A904FEC8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300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B81F58-57C0-3242-992B-2DD643CCB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4B77F8-E18C-E849-9E4B-2DD1FB998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27614-7EA7-D249-87DC-CBF5F1B381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INSY 3010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DD43D-1E32-2A40-90F4-DA40D73241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52320" y="6492875"/>
            <a:ext cx="80873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Industrial &amp; Systems Engineering, Auburn University - INSY 3010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E9C98-6936-CC45-AA43-56B1A0C719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CB7E71-652D-8D41-910D-7A904FEC8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04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customXml" Target="../ink/ink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mua0007@auburn.edu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abp0115@auburn.edu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survey.stackoverflow.co/2025/" TargetMode="External"/><Relationship Id="rId7" Type="http://schemas.openxmlformats.org/officeDocument/2006/relationships/image" Target="../media/image13.png"/><Relationship Id="rId2" Type="http://schemas.openxmlformats.org/officeDocument/2006/relationships/hyperlink" Target="https://github.blog/news-insights/octoverse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hyperlink" Target="https://automatetheboringstuff.com/" TargetMode="External"/><Relationship Id="rId3" Type="http://schemas.openxmlformats.org/officeDocument/2006/relationships/hyperlink" Target="https://www.py4e.com/" TargetMode="External"/><Relationship Id="rId7" Type="http://schemas.openxmlformats.org/officeDocument/2006/relationships/hyperlink" Target="https://youtu.be/UjeNA_JtXME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y4e.com/lessons" TargetMode="External"/><Relationship Id="rId5" Type="http://schemas.openxmlformats.org/officeDocument/2006/relationships/hyperlink" Target="https://www.py4e.com/html3" TargetMode="External"/><Relationship Id="rId4" Type="http://schemas.openxmlformats.org/officeDocument/2006/relationships/hyperlink" Target="http://do1.dr-chuck.com/pythonlearn/EN_us/pythonlearn.pdf" TargetMode="External"/><Relationship Id="rId9" Type="http://schemas.openxmlformats.org/officeDocument/2006/relationships/hyperlink" Target="https://allendowney.github.io/ThinkPython/index.html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colab.google/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if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EA55C-6916-FF10-0902-D4243DAD0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D3933-8CCE-D373-8DED-677ED85F0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 - INSY 3010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101BE-D776-ABF9-EE7A-4C5173378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B7E71-652D-8D41-910D-7A904FEC8DF1}" type="slidenum">
              <a:rPr lang="en-US" smtClean="0"/>
              <a:t>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9F5460-D79E-EA06-C5A9-DD8B3BEB1349}"/>
              </a:ext>
            </a:extLst>
          </p:cNvPr>
          <p:cNvSpPr txBox="1"/>
          <p:nvPr/>
        </p:nvSpPr>
        <p:spPr>
          <a:xfrm>
            <a:off x="683378" y="788643"/>
            <a:ext cx="10825243" cy="374506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4800" dirty="0"/>
              <a:t>No hiding in the back.</a:t>
            </a:r>
          </a:p>
          <a:p>
            <a:pPr algn="ctr"/>
            <a:endParaRPr lang="en-US" sz="4800" dirty="0"/>
          </a:p>
          <a:p>
            <a:pPr algn="ctr"/>
            <a:r>
              <a:rPr lang="en-US" sz="4800" dirty="0"/>
              <a:t>Please take a seat in the first 3-5 rows.</a:t>
            </a:r>
          </a:p>
        </p:txBody>
      </p:sp>
    </p:spTree>
    <p:extLst>
      <p:ext uri="{BB962C8B-B14F-4D97-AF65-F5344CB8AC3E}">
        <p14:creationId xmlns:p14="http://schemas.microsoft.com/office/powerpoint/2010/main" val="2249502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E0ED3-F5AC-D949-946B-07A488AE8A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Programming and Database Applications for ISE</a:t>
            </a:r>
            <a:br>
              <a:rPr lang="en-US" dirty="0"/>
            </a:br>
            <a:r>
              <a:rPr lang="en-US" sz="3600" dirty="0"/>
              <a:t>INSY 3010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AAB97D-29B1-9F4C-940B-B69D4156B4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65176"/>
            <a:ext cx="9144000" cy="1492624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400" dirty="0"/>
              <a:t>Class Intro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Dan O’Leary // </a:t>
            </a:r>
            <a:r>
              <a:rPr lang="en-US" dirty="0" err="1"/>
              <a:t>dan.oleary@auburn.edu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B452E2-0C0B-A744-9A6F-97F4AD4A2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 - INSY 3010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2347961-549E-414F-B670-EE854F0EF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2FFCBD-6F1F-F34F-B00F-268BDD8FD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1AF7F-5A29-CC4C-A2A6-A74C0BEF78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415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 love the smell of python in the morning. - Kilgore | Meme Generator">
            <a:extLst>
              <a:ext uri="{FF2B5EF4-FFF2-40B4-BE49-F238E27FC236}">
                <a16:creationId xmlns:a16="http://schemas.microsoft.com/office/drawing/2014/main" id="{E6A51217-1571-F24C-B9E7-629BEEEC1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21733" y="321733"/>
            <a:ext cx="11548534" cy="6214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13D5B1-2D9D-B64E-8138-250D1DA27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214E1B-A210-3041-A920-BE6E8844C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 - INSY 3010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2DF3BA-F95C-F146-8DA3-FB7D5895B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056C3-AAD7-7A42-B44A-B27E25B12592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07614F9-DC9C-3910-B6EA-9AE8A77D2EC8}"/>
                  </a:ext>
                </a:extLst>
              </p14:cNvPr>
              <p14:cNvContentPartPr/>
              <p14:nvPr/>
            </p14:nvContentPartPr>
            <p14:xfrm>
              <a:off x="7208202" y="5528379"/>
              <a:ext cx="4327200" cy="626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07614F9-DC9C-3910-B6EA-9AE8A77D2EC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45562" y="5465739"/>
                <a:ext cx="4452840" cy="75204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C791D5A0-09C4-62C4-D982-7A2379266511}"/>
              </a:ext>
            </a:extLst>
          </p:cNvPr>
          <p:cNvSpPr txBox="1"/>
          <p:nvPr/>
        </p:nvSpPr>
        <p:spPr>
          <a:xfrm>
            <a:off x="6804011" y="4251335"/>
            <a:ext cx="454978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ln w="31750">
                  <a:solidFill>
                    <a:schemeClr val="tx1"/>
                  </a:solidFill>
                </a:ln>
                <a:solidFill>
                  <a:srgbClr val="FF0000"/>
                </a:solidFill>
                <a:latin typeface="MARKER FELT THIN" panose="02000400000000000000" pitchFamily="2" charset="77"/>
              </a:rPr>
              <a:t>Afternoon</a:t>
            </a:r>
          </a:p>
        </p:txBody>
      </p:sp>
    </p:spTree>
    <p:extLst>
      <p:ext uri="{BB962C8B-B14F-4D97-AF65-F5344CB8AC3E}">
        <p14:creationId xmlns:p14="http://schemas.microsoft.com/office/powerpoint/2010/main" val="1906052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E9B940-87E5-0C47-9C5F-104DD4BF0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96A629-4A48-DB4C-AB3B-F7CE38F13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 - INSY 3010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4D35FF-6B3F-7A40-8D0C-9F19E7D96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056C3-AAD7-7A42-B44A-B27E25B12592}" type="slidenum">
              <a:rPr lang="en-US" smtClean="0"/>
              <a:t>4</a:t>
            </a:fld>
            <a:endParaRPr lang="en-US"/>
          </a:p>
        </p:txBody>
      </p:sp>
      <p:pic>
        <p:nvPicPr>
          <p:cNvPr id="3074" name="Picture 2" descr="Apocalypse Now (1979): What Is the Movie About and What to Know Before  Watching?">
            <a:extLst>
              <a:ext uri="{FF2B5EF4-FFF2-40B4-BE49-F238E27FC236}">
                <a16:creationId xmlns:a16="http://schemas.microsoft.com/office/drawing/2014/main" id="{D6DC8FDF-972A-D84F-8601-9E8B3CC96F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8680" y="367664"/>
            <a:ext cx="10454640" cy="5880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31FD8B-D735-FA4D-BA1E-409FE42FEA6A}"/>
              </a:ext>
            </a:extLst>
          </p:cNvPr>
          <p:cNvSpPr txBox="1"/>
          <p:nvPr/>
        </p:nvSpPr>
        <p:spPr>
          <a:xfrm>
            <a:off x="1231900" y="5532413"/>
            <a:ext cx="9728200" cy="887323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Ayuthaya" pitchFamily="2" charset="-34"/>
                <a:ea typeface="Ayuthaya" pitchFamily="2" charset="-34"/>
                <a:cs typeface="Ayuthaya" pitchFamily="2" charset="-34"/>
              </a:rPr>
              <a:t>I promise… it is not foreshadowing!</a:t>
            </a:r>
          </a:p>
        </p:txBody>
      </p:sp>
    </p:spTree>
    <p:extLst>
      <p:ext uri="{BB962C8B-B14F-4D97-AF65-F5344CB8AC3E}">
        <p14:creationId xmlns:p14="http://schemas.microsoft.com/office/powerpoint/2010/main" val="2104173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5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DCFA84-D0A3-B240-B303-1F941F050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War Eagle!</a:t>
            </a:r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1CE91-F505-0F49-997B-E082E5919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dirty="0"/>
              <a:t>Welcome to Fall 2026</a:t>
            </a:r>
          </a:p>
          <a:p>
            <a:r>
              <a:rPr lang="en-US" dirty="0"/>
              <a:t>INSY 3010</a:t>
            </a:r>
            <a:br>
              <a:rPr lang="en-US" dirty="0"/>
            </a:br>
            <a:r>
              <a:rPr lang="en-US" dirty="0"/>
              <a:t>Programming &amp; Database Applications for ISE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26CACFC-1870-EE4A-870E-3C9979A347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INSY 3010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E4D2E4A-7348-584C-992C-34EE51DDBF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l="2295" r="2295"/>
          <a:stretch/>
        </p:blipFill>
        <p:spPr bwMode="auto">
          <a:xfrm>
            <a:off x="5648763" y="10"/>
            <a:ext cx="6543238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D1F199-8511-644C-B6F7-8811C8C43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48400" y="6356350"/>
            <a:ext cx="4114800" cy="365125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900">
                <a:solidFill>
                  <a:srgbClr val="FFFFFF"/>
                </a:solidFill>
              </a:rPr>
              <a:t>Industrial &amp; Systems Engineering, Auburn University - INSY 3010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A1E680D-C459-9D42-AD5E-E4E3049CC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356350"/>
            <a:ext cx="914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4C1AF7F-5A29-CC4C-A2A6-A74C0BEF789F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3839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DCFA84-D0A3-B240-B303-1F941F050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4058" y="365125"/>
            <a:ext cx="5251316" cy="1807305"/>
          </a:xfrm>
        </p:spPr>
        <p:txBody>
          <a:bodyPr>
            <a:norm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1CE91-F505-0F49-997B-E082E5919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4057" y="2333297"/>
            <a:ext cx="4619621" cy="3843666"/>
          </a:xfrm>
        </p:spPr>
        <p:txBody>
          <a:bodyPr>
            <a:normAutofit/>
          </a:bodyPr>
          <a:lstStyle/>
          <a:p>
            <a:r>
              <a:rPr lang="en-US" dirty="0"/>
              <a:t>Get acquainted</a:t>
            </a:r>
          </a:p>
          <a:p>
            <a:r>
              <a:rPr lang="en-US" dirty="0"/>
              <a:t>Course mantra</a:t>
            </a:r>
          </a:p>
          <a:p>
            <a:r>
              <a:rPr lang="en-US" dirty="0"/>
              <a:t>Why?</a:t>
            </a:r>
          </a:p>
          <a:p>
            <a:r>
              <a:rPr lang="en-US" dirty="0"/>
              <a:t>Class details</a:t>
            </a:r>
          </a:p>
          <a:p>
            <a:r>
              <a:rPr lang="en-US" dirty="0"/>
              <a:t>Expectations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B9AD653-3550-9942-8D60-07A12930DCC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590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INSY 3010</a:t>
            </a:r>
          </a:p>
        </p:txBody>
      </p:sp>
      <p:pic>
        <p:nvPicPr>
          <p:cNvPr id="7" name="Picture 2" descr="Image">
            <a:extLst>
              <a:ext uri="{FF2B5EF4-FFF2-40B4-BE49-F238E27FC236}">
                <a16:creationId xmlns:a16="http://schemas.microsoft.com/office/drawing/2014/main" id="{083CBAFA-D52B-F2E9-A313-C0327EE7D3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7" r="6667"/>
          <a:stretch/>
        </p:blipFill>
        <p:spPr bwMode="auto">
          <a:xfrm flipH="1">
            <a:off x="0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D1F199-8511-644C-B6F7-8811C8C43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05200" y="6356350"/>
            <a:ext cx="3429000" cy="365125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900"/>
              <a:t>Industrial &amp; Systems Engineering, Auburn University - INSY 3010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54D938-789D-DE48-8FEF-017CBB61D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4C1AF7F-5A29-CC4C-A2A6-A74C0BEF789F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0169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52F99-58FC-484E-A67D-46FECBB0C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F43F8-4ED0-1648-9BFF-32BC61B95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805680"/>
          </a:xfrm>
        </p:spPr>
        <p:txBody>
          <a:bodyPr>
            <a:noAutofit/>
          </a:bodyPr>
          <a:lstStyle/>
          <a:p>
            <a:pPr>
              <a:spcAft>
                <a:spcPts val="300"/>
              </a:spcAft>
            </a:pPr>
            <a:r>
              <a:rPr lang="en-US" dirty="0"/>
              <a:t>BS Mechanical Engineering Auburn, 1992</a:t>
            </a:r>
          </a:p>
          <a:p>
            <a:pPr>
              <a:spcAft>
                <a:spcPts val="300"/>
              </a:spcAft>
            </a:pPr>
            <a:r>
              <a:rPr lang="en-US" dirty="0"/>
              <a:t>25 years founding / running two different software businesses</a:t>
            </a:r>
          </a:p>
          <a:p>
            <a:pPr>
              <a:spcAft>
                <a:spcPts val="300"/>
              </a:spcAft>
            </a:pPr>
            <a:r>
              <a:rPr lang="en-US" dirty="0"/>
              <a:t>Master of Engineering Management (ISE), 2020</a:t>
            </a:r>
          </a:p>
          <a:p>
            <a:pPr>
              <a:spcAft>
                <a:spcPts val="300"/>
              </a:spcAft>
            </a:pPr>
            <a:r>
              <a:rPr lang="en-US" dirty="0" err="1"/>
              <a:t>Ph.D</a:t>
            </a:r>
            <a:r>
              <a:rPr lang="en-US" dirty="0"/>
              <a:t> Industrial Engineering, 2024</a:t>
            </a:r>
          </a:p>
          <a:p>
            <a:pPr>
              <a:spcAft>
                <a:spcPts val="300"/>
              </a:spcAft>
            </a:pPr>
            <a:r>
              <a:rPr lang="en-US" dirty="0"/>
              <a:t>Real-time analysis and visualization, machine learning, data science</a:t>
            </a:r>
          </a:p>
          <a:p>
            <a:pPr>
              <a:spcAft>
                <a:spcPts val="300"/>
              </a:spcAft>
            </a:pPr>
            <a:r>
              <a:rPr lang="en-US" dirty="0"/>
              <a:t>Long-time instructor for INSY 3010 (10+ offerings)</a:t>
            </a:r>
          </a:p>
          <a:p>
            <a:pPr>
              <a:spcAft>
                <a:spcPts val="300"/>
              </a:spcAft>
            </a:pPr>
            <a:r>
              <a:rPr lang="en-US" dirty="0"/>
              <a:t>Also: product development (u/g), </a:t>
            </a:r>
            <a:r>
              <a:rPr lang="en-US" dirty="0" err="1"/>
              <a:t>eng</a:t>
            </a:r>
            <a:r>
              <a:rPr lang="en-US" dirty="0"/>
              <a:t> econ (g), ds/ml/ai (u/g)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7C51EC-2692-3347-9D88-8B49B2F48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 - INSY 3010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8F9235-A0B9-8146-8BD3-156653796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C1C361-68EB-EB4D-B2B4-7C11F6B54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1AF7F-5A29-CC4C-A2A6-A74C0BEF789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821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C36A9-35E9-094A-88FF-7C9B8710D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Teaching Assistants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1B684-6624-B146-A166-CF965B1E5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>
              <a:spcBef>
                <a:spcPts val="400"/>
              </a:spcBef>
            </a:pPr>
            <a:r>
              <a:rPr lang="en-US" dirty="0" err="1"/>
              <a:t>Munirul</a:t>
            </a:r>
            <a:r>
              <a:rPr lang="en-US" dirty="0"/>
              <a:t> Alam</a:t>
            </a:r>
          </a:p>
          <a:p>
            <a:pPr lvl="1">
              <a:spcBef>
                <a:spcPts val="400"/>
              </a:spcBef>
            </a:pPr>
            <a:r>
              <a:rPr lang="en-US" dirty="0"/>
              <a:t>PhD Student and Graduate Assistant, ISE</a:t>
            </a:r>
          </a:p>
          <a:p>
            <a:pPr lvl="1">
              <a:spcBef>
                <a:spcPts val="400"/>
              </a:spcBef>
            </a:pPr>
            <a:r>
              <a:rPr lang="en-US" dirty="0">
                <a:hlinkClick r:id="rId3"/>
              </a:rPr>
              <a:t>mua0007@auburn.edu</a:t>
            </a:r>
            <a:endParaRPr lang="en-US" dirty="0"/>
          </a:p>
          <a:p>
            <a:pPr lvl="1">
              <a:spcBef>
                <a:spcPts val="400"/>
              </a:spcBef>
            </a:pPr>
            <a:r>
              <a:rPr lang="en-US" dirty="0"/>
              <a:t>Office and office hours TBD</a:t>
            </a:r>
          </a:p>
          <a:p>
            <a:pPr>
              <a:spcBef>
                <a:spcPts val="400"/>
              </a:spcBef>
            </a:pPr>
            <a:r>
              <a:rPr lang="en-US" dirty="0"/>
              <a:t>Abhro Shome Pias</a:t>
            </a:r>
          </a:p>
          <a:p>
            <a:pPr lvl="1">
              <a:spcBef>
                <a:spcPts val="400"/>
              </a:spcBef>
            </a:pPr>
            <a:r>
              <a:rPr lang="en-US" dirty="0"/>
              <a:t>PhD Student and Graduate Assistant, ISE</a:t>
            </a:r>
          </a:p>
          <a:p>
            <a:pPr lvl="1">
              <a:spcBef>
                <a:spcPts val="400"/>
              </a:spcBef>
            </a:pPr>
            <a:r>
              <a:rPr lang="en-US" dirty="0">
                <a:hlinkClick r:id="rId4"/>
              </a:rPr>
              <a:t>abp0115@auburn.edu</a:t>
            </a:r>
            <a:endParaRPr lang="en-US" dirty="0"/>
          </a:p>
          <a:p>
            <a:pPr lvl="1">
              <a:spcBef>
                <a:spcPts val="400"/>
              </a:spcBef>
            </a:pPr>
            <a:r>
              <a:rPr lang="en-US" dirty="0"/>
              <a:t>Office and office hours TBD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65CCF-6DE3-F548-BFBA-0C24E2028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6A62F-7956-3A43-B1BB-5B6A9C4EC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 - INSY 3010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EE453-553B-5A4B-A8F4-1C7CE3D20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1AF7F-5A29-CC4C-A2A6-A74C0BEF789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567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E7B07-DE63-3B4A-BF34-AA341AAA1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Point…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67639-66A1-324B-B30F-9A058618D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write code</a:t>
            </a:r>
          </a:p>
          <a:p>
            <a:r>
              <a:rPr lang="en-US" dirty="0"/>
              <a:t>Have built software development businesses</a:t>
            </a:r>
          </a:p>
          <a:p>
            <a:r>
              <a:rPr lang="en-US" dirty="0"/>
              <a:t>But I don’t really consider myself a </a:t>
            </a:r>
            <a:r>
              <a:rPr lang="en-US" b="1" dirty="0"/>
              <a:t>programmer</a:t>
            </a:r>
          </a:p>
          <a:p>
            <a:r>
              <a:rPr lang="en-US" dirty="0"/>
              <a:t>And </a:t>
            </a:r>
            <a:r>
              <a:rPr lang="en-US" i="1" dirty="0"/>
              <a:t>definitely not</a:t>
            </a:r>
            <a:r>
              <a:rPr lang="en-US" dirty="0"/>
              <a:t> a </a:t>
            </a:r>
            <a:r>
              <a:rPr lang="en-US" b="1" dirty="0"/>
              <a:t>software engineer</a:t>
            </a:r>
          </a:p>
          <a:p>
            <a:r>
              <a:rPr lang="en-US" dirty="0"/>
              <a:t>Nor do I expect you to become one in 4 months</a:t>
            </a:r>
          </a:p>
          <a:p>
            <a:r>
              <a:rPr lang="en-US" dirty="0"/>
              <a:t>Software Engineering and using Python / SQL to solve problems are very different things.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83BF3-5638-C245-996C-AE4FB5392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C690D-016C-6E41-8FC8-B15E4CF9E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 - INSY 3010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6A1CB-596A-E548-8C78-1E1488AED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056C3-AAD7-7A42-B44A-B27E25B1259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588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6E75C-055B-6C27-5C0B-C1C91612D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84D0C-44B7-451C-1901-8CA206CBA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73329"/>
            <a:ext cx="10515600" cy="380363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i="1" dirty="0">
                <a:effectLst/>
                <a:latin typeface="Verdana" panose="020B060403050404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Students should be able to interpret and break down problems, devise a sequence of steps to solve them, translate those steps into proper Python and/or SQL syntax by applying common patterns, iterate and debug until a correct general solution is produced.</a:t>
            </a:r>
            <a:endParaRPr lang="en-US" sz="4000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67CF7-1571-9FC5-B857-B070AD7DE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729A3-A077-08A9-58F8-99908614B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 - INSY 3010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09D36-B1E1-397F-B665-88457F869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B7E71-652D-8D41-910D-7A904FEC8DF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982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Mantra</a:t>
            </a:r>
            <a:br>
              <a:rPr lang="en-US" dirty="0"/>
            </a:br>
            <a:r>
              <a:rPr lang="en-US" sz="2400" dirty="0"/>
              <a:t>credit Dr. Jeff Smith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2400"/>
              </a:spcAft>
            </a:pPr>
            <a:r>
              <a:rPr lang="en-US" i="1" dirty="0"/>
              <a:t>We are not computer scientists, software engineers, professional programmers, database architects, or database administrators.</a:t>
            </a:r>
          </a:p>
          <a:p>
            <a:pPr>
              <a:spcAft>
                <a:spcPts val="2400"/>
              </a:spcAft>
            </a:pPr>
            <a:r>
              <a:rPr lang="en-US" dirty="0"/>
              <a:t>This class is about providing the basic programming and database skills that Industrial Engineers need to be successful.</a:t>
            </a:r>
          </a:p>
          <a:p>
            <a:pPr>
              <a:spcAft>
                <a:spcPts val="2400"/>
              </a:spcAft>
            </a:pPr>
            <a:r>
              <a:rPr lang="en-US" dirty="0"/>
              <a:t>Do.  You must do.  Watching me (or anybody else) do and completely understanding everything I (they) do </a:t>
            </a:r>
            <a:r>
              <a:rPr lang="en-US" i="1" dirty="0">
                <a:solidFill>
                  <a:srgbClr val="FF0000"/>
                </a:solidFill>
              </a:rPr>
              <a:t>is not the same </a:t>
            </a:r>
            <a:r>
              <a:rPr lang="en-US" dirty="0"/>
              <a:t>as you doing.</a:t>
            </a:r>
          </a:p>
          <a:p>
            <a:pPr>
              <a:spcAft>
                <a:spcPts val="2400"/>
              </a:spcAft>
            </a:pPr>
            <a:r>
              <a:rPr lang="en-US" dirty="0"/>
              <a:t>Practice.  Practice.  Practice.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16C91-0384-9242-9449-2A49C318E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9B3D7-D941-A649-B13E-54E6CC4DC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 - INSY 3010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68EA1-AACD-DE44-A285-F25B0A756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056C3-AAD7-7A42-B44A-B27E25B1259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999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6EEA3-E835-4247-95D1-544912FB2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it hard to learn to program?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1F107-B1F6-5548-A015-507777A36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New language – syntax, grammar, spelling must be precise</a:t>
            </a:r>
          </a:p>
          <a:p>
            <a:r>
              <a:rPr lang="en-US" dirty="0"/>
              <a:t>New way of thinking – algorithmically, decomposing problems</a:t>
            </a:r>
          </a:p>
          <a:p>
            <a:r>
              <a:rPr lang="en-US" dirty="0"/>
              <a:t>New technology – tools can be complex</a:t>
            </a:r>
          </a:p>
          <a:p>
            <a:r>
              <a:rPr lang="en-US" dirty="0"/>
              <a:t>Not “one way” – many ways to solve every problem</a:t>
            </a:r>
          </a:p>
          <a:p>
            <a:r>
              <a:rPr lang="en-US" dirty="0"/>
              <a:t>Moving target – constantly, rapidly evolving / expanding</a:t>
            </a:r>
          </a:p>
          <a:p>
            <a:r>
              <a:rPr lang="en-US" dirty="0"/>
              <a:t>Skill – learned by practice, not memorization</a:t>
            </a:r>
          </a:p>
          <a:p>
            <a:pPr lvl="1"/>
            <a:r>
              <a:rPr lang="en-US" dirty="0"/>
              <a:t>build a set of tools, approaches, methods</a:t>
            </a:r>
          </a:p>
          <a:p>
            <a:pPr lvl="1"/>
            <a:r>
              <a:rPr lang="en-US" dirty="0"/>
              <a:t>develop intuition for problems and solutions; recognize patterns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ACF8C-BB8D-AE4E-A5E8-CDAC47E41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CC231-5FB8-924B-ADF1-68410B225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 - INSY 3010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EBC31-A0E3-DF48-94DB-D0F0EBF3B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056C3-AAD7-7A42-B44A-B27E25B1259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1324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BDE3A-8A12-8447-8A3B-375A76139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way to learn Python?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CE256-6797-9B45-B57A-FB0BCCC91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single way is sufficient.</a:t>
            </a:r>
          </a:p>
          <a:p>
            <a:pPr lvl="1"/>
            <a:r>
              <a:rPr lang="en-US" sz="2800" dirty="0"/>
              <a:t>Read it – code and books about code</a:t>
            </a:r>
          </a:p>
          <a:p>
            <a:pPr lvl="1"/>
            <a:r>
              <a:rPr lang="en-US" sz="2800" dirty="0"/>
              <a:t>Observe and discuss it – lectures, code-</a:t>
            </a:r>
            <a:r>
              <a:rPr lang="en-US" sz="2800" dirty="0" err="1"/>
              <a:t>alongs</a:t>
            </a:r>
            <a:r>
              <a:rPr lang="en-US" sz="2800" dirty="0"/>
              <a:t>, collaborations</a:t>
            </a:r>
          </a:p>
          <a:p>
            <a:pPr lvl="1"/>
            <a:r>
              <a:rPr lang="en-US" sz="2800" dirty="0"/>
              <a:t>Write it – try things; break, fix, iterate</a:t>
            </a:r>
          </a:p>
          <a:p>
            <a:pPr lvl="1"/>
            <a:r>
              <a:rPr lang="en-US" sz="2800" dirty="0"/>
              <a:t>Study it – compare solutions, try different approaches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3600" b="1" i="1" dirty="0"/>
              <a:t>See one, Do one, Teach one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B7D86-2630-E940-9D30-BF5ED3D45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A9578-E139-6748-8F2E-50218781A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 - INSY 3010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C3021-3391-1141-9C4F-888DD2D01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056C3-AAD7-7A42-B44A-B27E25B1259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855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ut-why-meme-generator-but-why-84103d - Liberty Tree Guns">
            <a:extLst>
              <a:ext uri="{FF2B5EF4-FFF2-40B4-BE49-F238E27FC236}">
                <a16:creationId xmlns:a16="http://schemas.microsoft.com/office/drawing/2014/main" id="{2E77A826-4514-B74E-BF9C-2A9093EE56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1592" y="646954"/>
            <a:ext cx="10748815" cy="5564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2A02DA-3686-3143-8F02-3C4A0D956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45F37F-12B6-5E4C-A1C4-8272147CF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 - INSY 3010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F0A5AD-9E95-6B49-8978-C86B19B43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056C3-AAD7-7A42-B44A-B27E25B1259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761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E2508-C1D3-1874-AFE6-247228354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40825-0CE1-128B-7302-746399445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000" dirty="0"/>
              <a:t>Understand the problem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000" dirty="0"/>
              <a:t>Break it into parts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000" dirty="0"/>
              <a:t>Plan the solution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000" dirty="0"/>
              <a:t>Apply known patterns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000" dirty="0"/>
              <a:t>Implement in code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000" dirty="0"/>
              <a:t>Refine through iteration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 algn="ctr">
              <a:buNone/>
            </a:pPr>
            <a:r>
              <a:rPr lang="en-US" sz="3000" i="1" dirty="0"/>
              <a:t>First and foremost, this is a class about thinking and problem solving.</a:t>
            </a:r>
            <a:br>
              <a:rPr lang="en-US" sz="3000" i="1" dirty="0"/>
            </a:br>
            <a:r>
              <a:rPr lang="en-US" sz="3000" i="1" dirty="0"/>
              <a:t>Core engineering skills. Transferrable, valuable.</a:t>
            </a:r>
          </a:p>
          <a:p>
            <a:pPr marL="0" indent="0" algn="ctr">
              <a:buNone/>
            </a:pPr>
            <a:r>
              <a:rPr lang="en-US" sz="3000" i="1" dirty="0"/>
              <a:t>Python / SQL are just the language of our solutions.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B5BD7-FA87-F1B7-33A4-A9D79500D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B81D0-3C3A-2170-449D-797AE7981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 - INSY 3010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4580E-FD69-2743-AA10-2B8D69132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B7E71-652D-8D41-910D-7A904FEC8DF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182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5C971-02D9-664D-8613-8B46E8528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Transferable Skills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DE24C-5C87-2143-B841-EC7FEBEBD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Breaking Down Problems</a:t>
            </a:r>
          </a:p>
          <a:p>
            <a:pPr lvl="1"/>
            <a:r>
              <a:rPr lang="en-US" sz="2800" dirty="0"/>
              <a:t>Create solutions (any kind) – start with understanding the problem</a:t>
            </a:r>
          </a:p>
          <a:p>
            <a:pPr lvl="1"/>
            <a:r>
              <a:rPr lang="en-US" sz="2800" dirty="0"/>
              <a:t>Harder and more important than it seems</a:t>
            </a:r>
          </a:p>
          <a:p>
            <a:pPr lvl="1"/>
            <a:r>
              <a:rPr lang="en-US" sz="2800" dirty="0"/>
              <a:t>Algorithmic / Computational Thinking</a:t>
            </a:r>
          </a:p>
          <a:p>
            <a:pPr lvl="1"/>
            <a:r>
              <a:rPr lang="en-US" sz="2800" dirty="0"/>
              <a:t>“I just don’t think that way” → Exactly!</a:t>
            </a:r>
          </a:p>
          <a:p>
            <a:r>
              <a:rPr lang="en-US" dirty="0"/>
              <a:t>Principles Apply to Other Languages</a:t>
            </a:r>
          </a:p>
          <a:p>
            <a:pPr lvl="1"/>
            <a:r>
              <a:rPr lang="en-US" sz="2800" dirty="0"/>
              <a:t>Syntax varies, fundamentals the same</a:t>
            </a:r>
          </a:p>
          <a:p>
            <a:pPr lvl="1"/>
            <a:r>
              <a:rPr lang="en-US" sz="2800" dirty="0"/>
              <a:t>Types, Conditionals, Flow Control, Objects, etc.</a:t>
            </a:r>
          </a:p>
          <a:p>
            <a:pPr lvl="1"/>
            <a:r>
              <a:rPr lang="en-US" sz="2800" dirty="0"/>
              <a:t>Learning one language makes it easier to learn a second, third, 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A7D4B-7063-F345-9A45-175F31E5D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10D050-E243-454E-A018-47D16B7EA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 - INSY 3010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2E2F4-466B-0E46-9F7F-235777F09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056C3-AAD7-7A42-B44A-B27E25B1259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4612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11FE8-2355-7C3E-ABF1-19164D846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Exercise:</a:t>
            </a:r>
            <a:br>
              <a:rPr lang="en-US" dirty="0"/>
            </a:br>
            <a:r>
              <a:rPr lang="en-US" sz="2800" dirty="0"/>
              <a:t>Estimate the total num of texts sent in AU / day.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D190A-F1EC-E029-FB75-9CA24DFC7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B5620-6008-CF09-AD9F-719E931DD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B48DA-E1A5-8847-2BD4-45FD4AEF3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 - INSY 3010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5EA13-8570-891D-D071-BEA87F68D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B7E71-652D-8D41-910D-7A904FEC8DF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9174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11FE8-2355-7C3E-ABF1-19164D846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Exercise:</a:t>
            </a:r>
            <a:br>
              <a:rPr lang="en-US" dirty="0"/>
            </a:br>
            <a:r>
              <a:rPr lang="en-US" sz="2800" dirty="0"/>
              <a:t>Estimate the total num of texts sent in AU / day.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D190A-F1EC-E029-FB75-9CA24DFC7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Estimate the population of the city.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Estimate the percentage that owns a mobile phone.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Estimate the average number of text messages sent per person-day.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Multiply!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B5620-6008-CF09-AD9F-719E931DD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B48DA-E1A5-8847-2BD4-45FD4AEF3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 - INSY 3010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5EA13-8570-891D-D071-BEA87F68D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B7E71-652D-8D41-910D-7A904FEC8DF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0470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1A527-359B-ED76-BE87-3053CB083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“Fermi Problems”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CB5A8-BBB2-C967-199E-AB3458FC5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Often used in interviewing</a:t>
            </a:r>
          </a:p>
          <a:p>
            <a:r>
              <a:rPr lang="en-US" dirty="0"/>
              <a:t>Test “computational thinking” – how to decompose problems</a:t>
            </a:r>
          </a:p>
          <a:p>
            <a:pPr lvl="1"/>
            <a:r>
              <a:rPr lang="en-US" sz="2800" dirty="0"/>
              <a:t>Essential engineering skill</a:t>
            </a:r>
          </a:p>
          <a:p>
            <a:r>
              <a:rPr lang="en-US" dirty="0"/>
              <a:t>Other examples:</a:t>
            </a:r>
          </a:p>
          <a:p>
            <a:pPr lvl="1"/>
            <a:r>
              <a:rPr lang="en-US" sz="2800" dirty="0"/>
              <a:t>How much data is transferred by Auburn Wi-Fi in a week?</a:t>
            </a:r>
          </a:p>
          <a:p>
            <a:pPr lvl="1"/>
            <a:r>
              <a:rPr lang="en-US" sz="2800" dirty="0"/>
              <a:t>What is an efficient process to organize a bookshelf?</a:t>
            </a:r>
          </a:p>
          <a:p>
            <a:pPr lvl="1"/>
            <a:r>
              <a:rPr lang="en-US" sz="2800" dirty="0"/>
              <a:t>How would you manage seating assignments in JHS?</a:t>
            </a:r>
          </a:p>
          <a:p>
            <a:pPr lvl="1"/>
            <a:r>
              <a:rPr lang="en-US" sz="2800" dirty="0"/>
              <a:t>Describe how you might model the spread of a rumor on campus.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898E9-C24C-7D72-AC3D-AF74380F4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B3AF9-7224-75E8-5107-78544DF9F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 - INSY 3010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27CBB-1CC8-608C-A435-02B74FA3F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B7E71-652D-8D41-910D-7A904FEC8DF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2099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937FE-0751-7B45-B6B4-B405911C6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Most Modern Engineers Deal with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6A55C-97D0-0F45-8C96-A8E10637A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Automate processes, computational modeling, systems integration</a:t>
            </a:r>
          </a:p>
          <a:p>
            <a:pPr lvl="1"/>
            <a:r>
              <a:rPr lang="en-US" sz="2800" dirty="0"/>
              <a:t>Python, R, </a:t>
            </a:r>
            <a:r>
              <a:rPr lang="en-US" sz="2800" dirty="0" err="1"/>
              <a:t>Matlab</a:t>
            </a:r>
            <a:r>
              <a:rPr lang="en-US" sz="2800" dirty="0"/>
              <a:t>, shell scripts, XLS macros, etc.</a:t>
            </a:r>
          </a:p>
          <a:p>
            <a:pPr lvl="1"/>
            <a:r>
              <a:rPr lang="en-US" sz="2800" dirty="0"/>
              <a:t>Not the same as being a Software Engineer</a:t>
            </a:r>
          </a:p>
          <a:p>
            <a:pPr lvl="1"/>
            <a:r>
              <a:rPr lang="en-US" sz="2800" dirty="0"/>
              <a:t>“Scientific Computing”</a:t>
            </a:r>
          </a:p>
          <a:p>
            <a:r>
              <a:rPr lang="en-US" dirty="0"/>
              <a:t>If you aren’t writing it, you are…</a:t>
            </a:r>
          </a:p>
          <a:p>
            <a:pPr lvl="1"/>
            <a:r>
              <a:rPr lang="en-US" sz="2800" dirty="0"/>
              <a:t>Contributing to systems that rely on software</a:t>
            </a:r>
          </a:p>
          <a:p>
            <a:pPr lvl="1"/>
            <a:r>
              <a:rPr lang="en-US" sz="2800" dirty="0"/>
              <a:t>Managing people / partners that are writing it</a:t>
            </a:r>
          </a:p>
          <a:p>
            <a:pPr lvl="1"/>
            <a:r>
              <a:rPr lang="en-US" sz="2800" dirty="0"/>
              <a:t>Competing with others that are</a:t>
            </a:r>
          </a:p>
          <a:p>
            <a:pPr marL="0" indent="0" algn="ctr">
              <a:lnSpc>
                <a:spcPct val="100000"/>
              </a:lnSpc>
              <a:spcBef>
                <a:spcPts val="2800"/>
              </a:spcBef>
              <a:buNone/>
            </a:pPr>
            <a:r>
              <a:rPr lang="en-US" b="1" dirty="0"/>
              <a:t>“Software is Eating the World” – Marc Andreessen, 2011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89C16-7F58-804C-B38A-51B166AC8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20E42-068C-814E-B51C-D144E0753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 - INSY 3010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056413-F8FE-C546-B8D9-9C7BA8436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056C3-AAD7-7A42-B44A-B27E25B1259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7624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295AD-0D52-CE4F-BE79-63F748FF6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Python?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4B106-9835-8E44-B570-EA104FF4F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0"/>
            <a:ext cx="10515600" cy="501967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Quick Results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High-level (readable), interpreted (instant feedback)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Concise, readable code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“Easy” to learn, free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Insanely Extensible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&gt;850k packages on the Python Package Index (</a:t>
            </a:r>
            <a:r>
              <a:rPr lang="en-US" sz="2800" dirty="0" err="1"/>
              <a:t>www.pypi.org</a:t>
            </a:r>
            <a:r>
              <a:rPr lang="en-US" sz="2800" dirty="0"/>
              <a:t>)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Any domain specific problem you can imagine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Interface with just about any hardware / software system (glue)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Widely Used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All domains and industries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800" dirty="0"/>
              <a:t>Insurance, health care, banking, aerospace, finance, science, etc.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B465D2B1-E45B-A74E-B198-F2C88BF69E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529762" y="390525"/>
            <a:ext cx="2281237" cy="2281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EFD18-0F0F-4741-8F67-EEBAF0805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CBD97-4788-B247-A26D-A57BCCB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 - INSY 3010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626A14-ACD8-7C47-8DD0-C497E2131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056C3-AAD7-7A42-B44A-B27E25B1259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166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24163-6B62-F2CC-9FEE-3498407631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3467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INSY 3010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C1116-4BA4-F554-76DF-81CF50975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/>
              <a:t>Industrial &amp; Systems Engineering, Auburn University - INSY 3010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D29D7-BD35-3679-E0B1-5C6EF4DA5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DCB7E71-652D-8D41-910D-7A904FEC8DF1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1A5DA7-055E-FEFA-9EE6-7CF3833F1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083" y="643467"/>
            <a:ext cx="6963833" cy="5571065"/>
          </a:xfrm>
          <a:prstGeom prst="rect">
            <a:avLst/>
          </a:prstGeom>
          <a:ln>
            <a:noFill/>
          </a:ln>
        </p:spPr>
      </p:pic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3303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7B4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9D3BDD-6212-FD37-CCF7-A0DC65C46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1C4412-195A-E148-0947-4919AA225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 - INSY 3010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5E31A2-E5F3-8545-D97D-B9BE8E918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B7E71-652D-8D41-910D-7A904FEC8DF1}" type="slidenum">
              <a:rPr lang="en-US" smtClean="0"/>
              <a:t>23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E2BAEB-50CC-F50B-FB75-8504809D2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6521"/>
            <a:ext cx="5895033" cy="48692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4634A3-88DE-DBCD-389C-F31E87555E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83689" y="316521"/>
            <a:ext cx="6608311" cy="6189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9126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0DDF6-0247-9447-AB4C-07E726D26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SQL?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966E0-DBF2-7A4F-895F-5029E7E9B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Trusted with the world’s data for more than 50 years</a:t>
            </a:r>
          </a:p>
          <a:p>
            <a:r>
              <a:rPr lang="en-US" dirty="0"/>
              <a:t>Ubiquitous – many database engines use SQL dialects</a:t>
            </a:r>
          </a:p>
          <a:p>
            <a:r>
              <a:rPr lang="en-US" dirty="0"/>
              <a:t>Securely, efficiently deals with very large data sets</a:t>
            </a:r>
          </a:p>
          <a:p>
            <a:r>
              <a:rPr lang="en-US" dirty="0"/>
              <a:t>Freely available on many platforms</a:t>
            </a:r>
          </a:p>
          <a:p>
            <a:r>
              <a:rPr lang="en-US" dirty="0"/>
              <a:t>Readable and quick to learn the basics</a:t>
            </a:r>
          </a:p>
          <a:p>
            <a:r>
              <a:rPr lang="en-US" dirty="0"/>
              <a:t>High demand in job market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96D07-DE9C-1443-B0F6-1F8FD45A0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059DF-9F33-EC43-8772-474782BCB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 - INSY 3010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25FC0-7A98-9B4A-AE61-5841B3AC2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056C3-AAD7-7A42-B44A-B27E25B1259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6450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C5ED53-D6D4-444F-9B26-530996554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50EFD-6740-FF60-6062-BF94D2D11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 - INSY 3010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A60ED-B0A6-C993-8305-2EC25D971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B7E71-652D-8D41-910D-7A904FEC8DF1}" type="slidenum">
              <a:rPr lang="en-US" smtClean="0"/>
              <a:t>25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334230-03DA-778B-F3CD-323BDA311A64}"/>
              </a:ext>
            </a:extLst>
          </p:cNvPr>
          <p:cNvSpPr txBox="1"/>
          <p:nvPr/>
        </p:nvSpPr>
        <p:spPr>
          <a:xfrm>
            <a:off x="6333990" y="6011402"/>
            <a:ext cx="56250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hlinkClick r:id="rId2"/>
              </a:rPr>
              <a:t>https://github.blog/news-insights/octoverse/  (2025)</a:t>
            </a:r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EFC33F-4480-CC32-DF0E-0D8321740AC2}"/>
              </a:ext>
            </a:extLst>
          </p:cNvPr>
          <p:cNvSpPr txBox="1"/>
          <p:nvPr/>
        </p:nvSpPr>
        <p:spPr>
          <a:xfrm>
            <a:off x="414612" y="6011401"/>
            <a:ext cx="56250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hlinkClick r:id="rId3"/>
              </a:rPr>
              <a:t>https://survey.stackoverflow.co/2025/</a:t>
            </a:r>
            <a:endParaRPr lang="en-US" sz="1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C5D501-9A5B-F63B-09B2-FE495EB90BC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0960"/>
          <a:stretch>
            <a:fillRect/>
          </a:stretch>
        </p:blipFill>
        <p:spPr>
          <a:xfrm>
            <a:off x="838200" y="691134"/>
            <a:ext cx="5169067" cy="48308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73E88F6-26E2-FABA-A5BF-530E24A503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0551" y="4775143"/>
            <a:ext cx="1308100" cy="6096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BA01A28-D114-F8C8-B819-599282083EEC}"/>
              </a:ext>
            </a:extLst>
          </p:cNvPr>
          <p:cNvSpPr/>
          <p:nvPr/>
        </p:nvSpPr>
        <p:spPr>
          <a:xfrm>
            <a:off x="838200" y="1530560"/>
            <a:ext cx="5004507" cy="310351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AFB721C-262A-0CB5-2A47-A520D685A40D}"/>
              </a:ext>
            </a:extLst>
          </p:cNvPr>
          <p:cNvGrpSpPr/>
          <p:nvPr/>
        </p:nvGrpSpPr>
        <p:grpSpPr>
          <a:xfrm>
            <a:off x="6780782" y="393788"/>
            <a:ext cx="4731483" cy="5425562"/>
            <a:chOff x="6333990" y="142208"/>
            <a:chExt cx="5169068" cy="5927338"/>
          </a:xfrm>
        </p:grpSpPr>
        <p:pic>
          <p:nvPicPr>
            <p:cNvPr id="9" name="Picture 8" descr="A chart showing the top 10 programming languages on GitHub from 2023 to 2025. TypeScript rises to #1 in 2025, overtaking Python and JavaScript, which move to #2 and #3 respectively. Other top languages include Java, C#, PHP, Shell, C++, HCL, and Go. The chart tracks ranking changes over time on a dark background with colored lines representing each language.">
              <a:extLst>
                <a:ext uri="{FF2B5EF4-FFF2-40B4-BE49-F238E27FC236}">
                  <a16:creationId xmlns:a16="http://schemas.microsoft.com/office/drawing/2014/main" id="{6571A343-EE04-4A5F-0157-676216AD7E3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33990" y="142208"/>
              <a:ext cx="5169067" cy="2907601"/>
            </a:xfrm>
            <a:prstGeom prst="rect">
              <a:avLst/>
            </a:prstGeom>
          </p:spPr>
        </p:pic>
        <p:pic>
          <p:nvPicPr>
            <p:cNvPr id="10" name="Picture 9" descr="A chart listing the most commonly used programming languages in AI-tagged projects on GitHub in 2025. Python ranks first with 582,000 repositories (+50.7% year over year), followed by JavaScript with 88,000 (+24.8%), TypeScript with 86,000 (+77.9%), Shell with 9,000 (+324%), and C++ with 7,800 (+11%). The chart includes brief descriptions of each language’s role in AI development, displayed on a blue gradient background with green geometric ribbon graphics.">
              <a:extLst>
                <a:ext uri="{FF2B5EF4-FFF2-40B4-BE49-F238E27FC236}">
                  <a16:creationId xmlns:a16="http://schemas.microsoft.com/office/drawing/2014/main" id="{39067703-A2C3-6A78-9ED1-D9521425DCE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333990" y="3161945"/>
              <a:ext cx="5169068" cy="2907601"/>
            </a:xfrm>
            <a:prstGeom prst="rect">
              <a:avLst/>
            </a:prstGeom>
          </p:spPr>
        </p:pic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647A9943-BE02-896E-17A4-3ACCF7528236}"/>
              </a:ext>
            </a:extLst>
          </p:cNvPr>
          <p:cNvSpPr/>
          <p:nvPr/>
        </p:nvSpPr>
        <p:spPr>
          <a:xfrm>
            <a:off x="10754591" y="1228436"/>
            <a:ext cx="599209" cy="207819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CD1BA3-A75B-A2DF-1263-AF91FBA5DBF5}"/>
              </a:ext>
            </a:extLst>
          </p:cNvPr>
          <p:cNvSpPr/>
          <p:nvPr/>
        </p:nvSpPr>
        <p:spPr>
          <a:xfrm>
            <a:off x="6919191" y="1215736"/>
            <a:ext cx="599209" cy="207819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0D0DF2-185B-FD3C-DA9E-045C1D23EC0D}"/>
              </a:ext>
            </a:extLst>
          </p:cNvPr>
          <p:cNvSpPr/>
          <p:nvPr/>
        </p:nvSpPr>
        <p:spPr>
          <a:xfrm>
            <a:off x="8608291" y="3311236"/>
            <a:ext cx="2903973" cy="447964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3000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D4B66-C94E-3841-97B6-F95981A44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Worth the Investment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91BDA-FBF9-7E40-837A-09515D93D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Compensation, Opportunities ≈ Value You Bring:</a:t>
            </a:r>
          </a:p>
          <a:p>
            <a:pPr lvl="1"/>
            <a:r>
              <a:rPr lang="en-US" dirty="0"/>
              <a:t>Ability to read code</a:t>
            </a:r>
          </a:p>
          <a:p>
            <a:pPr lvl="1"/>
            <a:r>
              <a:rPr lang="en-US" dirty="0"/>
              <a:t>Ability to write code</a:t>
            </a:r>
          </a:p>
          <a:p>
            <a:pPr lvl="1"/>
            <a:r>
              <a:rPr lang="en-US" dirty="0"/>
              <a:t>Understand software engineering concepts</a:t>
            </a:r>
          </a:p>
          <a:p>
            <a:pPr lvl="1"/>
            <a:r>
              <a:rPr lang="en-US" dirty="0"/>
              <a:t>Communicate / collaborate with software engineers</a:t>
            </a:r>
          </a:p>
          <a:p>
            <a:pPr lvl="1"/>
            <a:r>
              <a:rPr lang="en-US" dirty="0"/>
              <a:t>Ability to automate things, improve personal or group efficiency</a:t>
            </a:r>
          </a:p>
          <a:p>
            <a:pPr lvl="1"/>
            <a:r>
              <a:rPr lang="en-US" dirty="0"/>
              <a:t>Get things done</a:t>
            </a:r>
          </a:p>
          <a:p>
            <a:pPr marL="0" indent="0" algn="ctr">
              <a:lnSpc>
                <a:spcPct val="100000"/>
              </a:lnSpc>
              <a:spcBef>
                <a:spcPts val="1800"/>
              </a:spcBef>
              <a:buNone/>
            </a:pPr>
            <a:r>
              <a:rPr lang="en-US" sz="3200" b="1" dirty="0"/>
              <a:t>To many, code is still “magic.”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b="1" dirty="0"/>
              <a:t>Even low-level wizards are very valuable.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09ED3-4C80-9A49-BCD9-9E38E41FC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05275-DDD4-EA4C-A72D-3E6900F23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 - INSY 3010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C0CFF-2661-ED4D-9578-FD6ADC600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056C3-AAD7-7A42-B44A-B27E25B1259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2022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B19B6-66FE-654C-A836-D3D63A14C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Course Format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75142-AA63-2848-ACEC-94FFEAB62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34E79-606C-B141-8857-7AE6C0DD1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 - INSY 3010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C4A157A5-9082-ED47-8CFA-E127FCDEA7EF}"/>
              </a:ext>
            </a:extLst>
          </p:cNvPr>
          <p:cNvSpPr txBox="1">
            <a:spLocks/>
          </p:cNvSpPr>
          <p:nvPr/>
        </p:nvSpPr>
        <p:spPr>
          <a:xfrm>
            <a:off x="838200" y="17494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Lectures Tues / Thurs 2:00 – 3:15</a:t>
            </a:r>
          </a:p>
          <a:p>
            <a:r>
              <a:rPr lang="en-US" dirty="0"/>
              <a:t>Recitations Thurs 3:30</a:t>
            </a:r>
          </a:p>
          <a:p>
            <a:r>
              <a:rPr lang="en-US" dirty="0"/>
              <a:t>Mix of PPT lecture, coding examples, code-along, and group work</a:t>
            </a:r>
          </a:p>
          <a:p>
            <a:r>
              <a:rPr lang="en-US" dirty="0"/>
              <a:t>No zoom: simulcast / recordings not planned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9DFF210-BF30-4641-A883-346A95DF8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1AF7F-5A29-CC4C-A2A6-A74C0BEF789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3852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C10B6-BBBD-C6A6-FBAC-A46627486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89458-6214-1644-17B6-594543C3E6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Focus on supplemental instruction and hands-on practice through:</a:t>
            </a:r>
          </a:p>
          <a:p>
            <a:pPr lvl="1"/>
            <a:r>
              <a:rPr lang="en-US" dirty="0"/>
              <a:t>Additional worked examples and practice problems</a:t>
            </a:r>
          </a:p>
          <a:p>
            <a:pPr lvl="1"/>
            <a:r>
              <a:rPr lang="en-US" dirty="0"/>
              <a:t>Time and support to work on homework assignments</a:t>
            </a:r>
          </a:p>
          <a:p>
            <a:pPr lvl="1"/>
            <a:r>
              <a:rPr lang="en-US" dirty="0"/>
              <a:t>Review of completed homework and exam material</a:t>
            </a:r>
          </a:p>
          <a:p>
            <a:r>
              <a:rPr lang="en-US" dirty="0"/>
              <a:t>Active learning and peer collaboration</a:t>
            </a:r>
          </a:p>
          <a:p>
            <a:r>
              <a:rPr lang="en-US" dirty="0"/>
              <a:t>Attendance optional but encouraged and incentivized</a:t>
            </a:r>
          </a:p>
          <a:p>
            <a:r>
              <a:rPr lang="en-US" dirty="0"/>
              <a:t>Not every week – about 10-12 of the 15 weeks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0D05C-608C-6D90-0E06-F158900A0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4CB47-9E0E-A880-A23F-CA821D0B6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 - INSY 3010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79714-8E6B-09FA-295E-C04C14F9E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B7E71-652D-8D41-910D-7A904FEC8DF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9741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C5F78-6144-7A43-9F7B-BCB86173A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Concepts</a:t>
            </a:r>
            <a:br>
              <a:rPr lang="en-US" dirty="0"/>
            </a:br>
            <a:r>
              <a:rPr lang="en-US" sz="2400" dirty="0"/>
              <a:t>credit Dr. Jeff Smith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8038F-8262-514A-AEA6-18BD95D80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055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Program flow</a:t>
            </a:r>
          </a:p>
          <a:p>
            <a:r>
              <a:rPr lang="en-US" dirty="0"/>
              <a:t>Thinking “</a:t>
            </a:r>
            <a:r>
              <a:rPr lang="en-US" dirty="0">
                <a:solidFill>
                  <a:srgbClr val="FF0000"/>
                </a:solidFill>
              </a:rPr>
              <a:t>computationally</a:t>
            </a:r>
            <a:r>
              <a:rPr lang="en-US" dirty="0"/>
              <a:t>”</a:t>
            </a:r>
          </a:p>
          <a:p>
            <a:r>
              <a:rPr lang="en-US" dirty="0"/>
              <a:t>Data types and structures</a:t>
            </a:r>
          </a:p>
          <a:p>
            <a:r>
              <a:rPr lang="en-US" dirty="0"/>
              <a:t>Implementing algorithms</a:t>
            </a:r>
          </a:p>
          <a:p>
            <a:r>
              <a:rPr lang="en-US" dirty="0"/>
              <a:t>Basic Python syntax</a:t>
            </a:r>
          </a:p>
          <a:p>
            <a:r>
              <a:rPr lang="en-US" dirty="0"/>
              <a:t>Relational database structures</a:t>
            </a:r>
          </a:p>
          <a:p>
            <a:r>
              <a:rPr lang="en-US" dirty="0"/>
              <a:t>SQL queries</a:t>
            </a:r>
          </a:p>
          <a:p>
            <a:r>
              <a:rPr lang="en-US" dirty="0"/>
              <a:t>Integration</a:t>
            </a:r>
          </a:p>
          <a:p>
            <a:r>
              <a:rPr lang="en-US" dirty="0"/>
              <a:t>Intro to data science</a:t>
            </a:r>
          </a:p>
          <a:p>
            <a:r>
              <a:rPr lang="en-US" dirty="0"/>
              <a:t>Basic tools of software development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79F45-7DEB-F14D-A156-458752469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B95D5-8F9A-5345-90F3-326A3FC53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 - INSY 3010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E9E5BEA-8A23-3347-B849-16F36BCAD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1AF7F-5A29-CC4C-A2A6-A74C0BEF789F}" type="slidenum">
              <a:rPr lang="en-US" smtClean="0"/>
              <a:t>29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76E5F0-4F8D-9B43-8DAB-7071FDE396F6}"/>
              </a:ext>
            </a:extLst>
          </p:cNvPr>
          <p:cNvSpPr txBox="1"/>
          <p:nvPr/>
        </p:nvSpPr>
        <p:spPr>
          <a:xfrm>
            <a:off x="6129867" y="1828800"/>
            <a:ext cx="5537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rgbClr val="FF0000"/>
                </a:solidFill>
                <a:latin typeface="+mn-lt"/>
              </a:rPr>
              <a:t>Algorithm</a:t>
            </a:r>
            <a:r>
              <a:rPr lang="en-US" sz="200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2000" dirty="0">
                <a:latin typeface="+mn-lt"/>
              </a:rPr>
              <a:t>- A procedure for solving a mathematical problem (as of finding the greatest common divisor) in a finite number of steps that frequently involves repetition of an operation; </a:t>
            </a:r>
            <a:r>
              <a:rPr lang="en-US" sz="2000" u="sng" dirty="0">
                <a:latin typeface="+mn-lt"/>
              </a:rPr>
              <a:t>broadly :  a step-by-step procedure for solving a problem or accomplishing some end especially by a computer</a:t>
            </a:r>
            <a:r>
              <a:rPr lang="en-US" sz="2000" dirty="0">
                <a:latin typeface="+mn-lt"/>
              </a:rPr>
              <a:t>.</a:t>
            </a:r>
          </a:p>
          <a:p>
            <a:endParaRPr lang="en-US" sz="2000" dirty="0">
              <a:latin typeface="+mn-lt"/>
            </a:endParaRPr>
          </a:p>
          <a:p>
            <a:r>
              <a:rPr lang="en-US" sz="2000" dirty="0">
                <a:latin typeface="+mn-lt"/>
              </a:rPr>
              <a:t>(Merriam-Webster - http://www.merriam-webster.com/dictionary/algorithm)</a:t>
            </a:r>
          </a:p>
        </p:txBody>
      </p:sp>
    </p:spTree>
    <p:extLst>
      <p:ext uri="{BB962C8B-B14F-4D97-AF65-F5344CB8AC3E}">
        <p14:creationId xmlns:p14="http://schemas.microsoft.com/office/powerpoint/2010/main" val="477206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24A3C-26DE-3CA5-C71F-AE9C646DA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Plan, Approximately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C9D51-93FE-4596-559F-5545B7497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29 lectures</a:t>
            </a:r>
          </a:p>
          <a:p>
            <a:pPr lvl="1"/>
            <a:r>
              <a:rPr lang="en-US" sz="2800" dirty="0"/>
              <a:t>1 x course intro</a:t>
            </a:r>
          </a:p>
          <a:p>
            <a:pPr lvl="1"/>
            <a:r>
              <a:rPr lang="en-US" sz="2800" dirty="0"/>
              <a:t>7 x Python fundamentals</a:t>
            </a:r>
          </a:p>
          <a:p>
            <a:pPr lvl="1"/>
            <a:r>
              <a:rPr lang="en-US" sz="2800" dirty="0"/>
              <a:t>7 x Python intermediate concepts</a:t>
            </a:r>
          </a:p>
          <a:p>
            <a:pPr lvl="1"/>
            <a:r>
              <a:rPr lang="en-US" sz="2800" dirty="0"/>
              <a:t>6 x Relational databases and SQL</a:t>
            </a:r>
          </a:p>
          <a:p>
            <a:pPr lvl="1"/>
            <a:r>
              <a:rPr lang="en-US" sz="2800" dirty="0"/>
              <a:t>6 x Python-SQL integration, file handling, and data tools</a:t>
            </a:r>
          </a:p>
          <a:p>
            <a:pPr lvl="1"/>
            <a:r>
              <a:rPr lang="en-US" sz="2800" dirty="0"/>
              <a:t>3 x tests (intro, intermediate, SQL)</a:t>
            </a:r>
          </a:p>
          <a:p>
            <a:r>
              <a:rPr lang="en-US" dirty="0"/>
              <a:t>10 Recitations</a:t>
            </a:r>
          </a:p>
          <a:p>
            <a:r>
              <a:rPr lang="en-US" dirty="0"/>
              <a:t>Plus final exam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DF7C8A-F7DC-B8D9-D3F3-821384EC6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255EC-7D96-7F76-96F8-92B60F456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 - INSY 3010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B581E-0448-969B-C43F-94DA6039D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B7E71-652D-8D41-910D-7A904FEC8DF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1853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F65F7-52F7-1847-A879-7671F9956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Instructional Materials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61E99-E954-5C4F-A837-B662F0E33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/>
          <a:p>
            <a:r>
              <a:rPr lang="en-US" dirty="0"/>
              <a:t>Provided by instructor – PowerPoint Slides and Jupyter Notebooks</a:t>
            </a:r>
          </a:p>
          <a:p>
            <a:r>
              <a:rPr lang="en-US" dirty="0"/>
              <a:t>Additional Sources</a:t>
            </a:r>
            <a:endParaRPr lang="en-US" dirty="0">
              <a:hlinkClick r:id="rId3"/>
            </a:endParaRPr>
          </a:p>
          <a:p>
            <a:pPr lvl="1"/>
            <a:r>
              <a:rPr lang="en-US" sz="2800" dirty="0">
                <a:hlinkClick r:id="rId3"/>
              </a:rPr>
              <a:t>Python for Everybody</a:t>
            </a:r>
            <a:r>
              <a:rPr lang="en-US" sz="2800" dirty="0"/>
              <a:t> (PY4E)</a:t>
            </a:r>
          </a:p>
          <a:p>
            <a:pPr lvl="2"/>
            <a:r>
              <a:rPr lang="en-US" sz="2800" dirty="0"/>
              <a:t>Free Book (</a:t>
            </a:r>
            <a:r>
              <a:rPr lang="en-US" sz="2800" dirty="0">
                <a:hlinkClick r:id="rId4"/>
              </a:rPr>
              <a:t>PDF</a:t>
            </a:r>
            <a:r>
              <a:rPr lang="en-US" sz="2800" dirty="0"/>
              <a:t>, </a:t>
            </a:r>
            <a:r>
              <a:rPr lang="en-US" sz="2800" dirty="0">
                <a:hlinkClick r:id="rId5"/>
              </a:rPr>
              <a:t>HTML</a:t>
            </a:r>
            <a:r>
              <a:rPr lang="en-US" sz="2800" dirty="0"/>
              <a:t>), </a:t>
            </a:r>
            <a:r>
              <a:rPr lang="en-US" sz="2800" dirty="0">
                <a:hlinkClick r:id="rId6"/>
              </a:rPr>
              <a:t>materials</a:t>
            </a:r>
            <a:r>
              <a:rPr lang="en-US" sz="2800" dirty="0"/>
              <a:t>, </a:t>
            </a:r>
            <a:r>
              <a:rPr lang="en-US" sz="2800" dirty="0">
                <a:hlinkClick r:id="rId7"/>
              </a:rPr>
              <a:t>video lectures</a:t>
            </a:r>
            <a:r>
              <a:rPr lang="en-US" sz="2800" dirty="0"/>
              <a:t>, etc.</a:t>
            </a:r>
          </a:p>
          <a:p>
            <a:pPr lvl="1"/>
            <a:r>
              <a:rPr lang="en-US" sz="2800" dirty="0"/>
              <a:t>Other Alternatives</a:t>
            </a:r>
          </a:p>
          <a:p>
            <a:pPr lvl="2"/>
            <a:r>
              <a:rPr lang="en-US" sz="2800" dirty="0">
                <a:hlinkClick r:id="rId8"/>
              </a:rPr>
              <a:t>Automate the Boring Stuff with Python</a:t>
            </a:r>
            <a:r>
              <a:rPr lang="en-US" sz="2800" dirty="0"/>
              <a:t> (chapters and videos)</a:t>
            </a:r>
          </a:p>
          <a:p>
            <a:pPr lvl="2"/>
            <a:r>
              <a:rPr lang="en-US" sz="2800" dirty="0">
                <a:hlinkClick r:id="rId9"/>
              </a:rPr>
              <a:t>Think Python, 3</a:t>
            </a:r>
            <a:r>
              <a:rPr lang="en-US" sz="2800" baseline="30000" dirty="0">
                <a:hlinkClick r:id="rId9"/>
              </a:rPr>
              <a:t>rd</a:t>
            </a:r>
            <a:r>
              <a:rPr lang="en-US" sz="2800" dirty="0">
                <a:hlinkClick r:id="rId9"/>
              </a:rPr>
              <a:t> Edition</a:t>
            </a:r>
            <a:r>
              <a:rPr lang="en-US" sz="2800" dirty="0"/>
              <a:t> (full book, PY4E is based on it)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DB86F-405A-4D42-9201-F488BDAAB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C3565-179C-204B-9806-ED482642F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 - INSY 3010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FB1D70-0EBA-FC4C-B89E-2FB4C4937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1AF7F-5A29-CC4C-A2A6-A74C0BEF789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0033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01C93D-6D6E-FADD-AA46-CE26BFB44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Google </a:t>
            </a:r>
            <a:r>
              <a:rPr lang="en-US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Colab</a:t>
            </a:r>
            <a:b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  <a:hlinkClick r:id="rId2"/>
              </a:rPr>
              <a:t>colab.google</a:t>
            </a:r>
            <a:endParaRPr lang="en-US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450ACC-E28C-0237-2FEF-F9C4EC2D5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8006" y="640080"/>
            <a:ext cx="6647196" cy="555040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0C53A-0178-8179-8C8C-2AE43E8027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INSY 3010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33B1B-555D-966B-C3F1-2D89AF2B7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Industrial &amp; Systems Engineering, Auburn University - INSY 3010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71D8E-1572-8B32-D357-D3741BB02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DCB7E71-652D-8D41-910D-7A904FEC8DF1}" type="slidenum">
              <a:rPr lang="en-US" smtClean="0"/>
              <a:pPr>
                <a:spcAft>
                  <a:spcPts val="600"/>
                </a:spcAft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9406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6F4E6-DF4A-1BCC-09EA-20DD00776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6FC3A-099F-51C8-D614-4F18D6199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Breakdown</a:t>
            </a:r>
          </a:p>
          <a:p>
            <a:pPr lvl="1"/>
            <a:r>
              <a:rPr lang="en-US" dirty="0"/>
              <a:t>1% “Readiness”</a:t>
            </a:r>
          </a:p>
          <a:p>
            <a:pPr lvl="1"/>
            <a:r>
              <a:rPr lang="en-US" dirty="0"/>
              <a:t>5% Homework</a:t>
            </a:r>
          </a:p>
          <a:p>
            <a:pPr lvl="1"/>
            <a:r>
              <a:rPr lang="en-US" dirty="0"/>
              <a:t>25% Quizzes</a:t>
            </a:r>
          </a:p>
          <a:p>
            <a:pPr lvl="1"/>
            <a:r>
              <a:rPr lang="en-US" dirty="0"/>
              <a:t>39% Tests (3)</a:t>
            </a:r>
          </a:p>
          <a:p>
            <a:pPr lvl="1"/>
            <a:r>
              <a:rPr lang="en-US" dirty="0"/>
              <a:t>10% Project</a:t>
            </a:r>
          </a:p>
          <a:p>
            <a:pPr lvl="1"/>
            <a:r>
              <a:rPr lang="en-US" dirty="0"/>
              <a:t>20% Final</a:t>
            </a:r>
          </a:p>
          <a:p>
            <a:r>
              <a:rPr lang="en-US" dirty="0"/>
              <a:t>Average Performance (prior)</a:t>
            </a:r>
          </a:p>
          <a:p>
            <a:pPr lvl="1"/>
            <a:r>
              <a:rPr lang="en-US" dirty="0"/>
              <a:t>(Combined) Test scores about 75%: 0.75 x 59% total grade = 44.25 points</a:t>
            </a:r>
          </a:p>
          <a:p>
            <a:pPr lvl="1"/>
            <a:r>
              <a:rPr lang="en-US" dirty="0"/>
              <a:t>Assume 90% on homework and project: 0.90 x 41 = 36.9 points</a:t>
            </a:r>
          </a:p>
          <a:p>
            <a:pPr lvl="1"/>
            <a:r>
              <a:rPr lang="en-US" dirty="0"/>
              <a:t>Total: 44.25 </a:t>
            </a:r>
            <a:r>
              <a:rPr lang="en-US"/>
              <a:t>+ 36.9 = 81.15 </a:t>
            </a:r>
            <a:r>
              <a:rPr lang="en-US" dirty="0"/>
              <a:t>points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E215D-6016-9595-4B64-EACB0AD32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03001-A9D2-E40A-65A4-5101B179C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 - INSY 3010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4BA5C-2281-B1AE-7922-459CF9A7D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B7E71-652D-8D41-910D-7A904FEC8DF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775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905D9-7139-054A-808E-D62858D70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52BC1-E804-DD4C-B2D1-5CBEDE006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 - INSY 3010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F612F-871B-F642-8C55-397018B6C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056C3-AAD7-7A42-B44A-B27E25B12592}" type="slidenum">
              <a:rPr lang="en-US" smtClean="0"/>
              <a:t>34</a:t>
            </a:fld>
            <a:endParaRPr lang="en-US"/>
          </a:p>
        </p:txBody>
      </p:sp>
      <p:pic>
        <p:nvPicPr>
          <p:cNvPr id="1026" name="Picture 2" descr="How Education Often Leads to the Dunning Kruger Effect - Brightwork  Research &amp;amp; Analysis">
            <a:extLst>
              <a:ext uri="{FF2B5EF4-FFF2-40B4-BE49-F238E27FC236}">
                <a16:creationId xmlns:a16="http://schemas.microsoft.com/office/drawing/2014/main" id="{B377F4EB-6F9E-CE4B-BA2D-6240496CAB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8670" y="443626"/>
            <a:ext cx="10614660" cy="5970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96203D6-255B-0E40-9B7E-BACC8BEDC60E}"/>
              </a:ext>
            </a:extLst>
          </p:cNvPr>
          <p:cNvSpPr txBox="1"/>
          <p:nvPr/>
        </p:nvSpPr>
        <p:spPr>
          <a:xfrm>
            <a:off x="3668751" y="452354"/>
            <a:ext cx="43489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BEWARE!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9F59DEB-B1BC-C7DF-4A99-F993A254858A}"/>
              </a:ext>
            </a:extLst>
          </p:cNvPr>
          <p:cNvCxnSpPr>
            <a:cxnSpLocks/>
          </p:cNvCxnSpPr>
          <p:nvPr/>
        </p:nvCxnSpPr>
        <p:spPr>
          <a:xfrm>
            <a:off x="4046188" y="1028676"/>
            <a:ext cx="3594100" cy="167426"/>
          </a:xfrm>
          <a:prstGeom prst="line">
            <a:avLst/>
          </a:prstGeom>
          <a:ln w="698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45042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37D9E-C033-AA42-91D7-6B35EF6F3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Expectations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E0DC0-0BCB-D04D-8031-DC87A21FB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r>
              <a:rPr lang="en-US" dirty="0"/>
              <a:t>Curiosity &amp; Engagement – ask questions</a:t>
            </a:r>
          </a:p>
          <a:p>
            <a:r>
              <a:rPr lang="en-US" dirty="0"/>
              <a:t>Work Ethic – takes lots of practice</a:t>
            </a:r>
          </a:p>
          <a:p>
            <a:r>
              <a:rPr lang="en-US" dirty="0"/>
              <a:t>Quality – work you are proud of</a:t>
            </a:r>
          </a:p>
          <a:p>
            <a:r>
              <a:rPr lang="en-US" dirty="0"/>
              <a:t>Professionalism – polite, prepared, punctual</a:t>
            </a:r>
          </a:p>
          <a:p>
            <a:r>
              <a:rPr lang="en-US" dirty="0"/>
              <a:t>Integrity – demonstrate good character, do your own work</a:t>
            </a:r>
          </a:p>
          <a:p>
            <a:r>
              <a:rPr lang="en-US" dirty="0"/>
              <a:t>…and a little flexibility (mutual)</a:t>
            </a:r>
          </a:p>
          <a:p>
            <a:pPr marL="0" indent="0" algn="ctr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b="1" dirty="0"/>
              <a:t>Show up and do the work in a way that shows you care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/>
              <a:t>I promise to reciprocate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8D0F5-2452-B740-BFBB-EE8BC192F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D0B4E0-07A9-A242-BB01-0851C0481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 - INSY 3010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4A429E-E433-3040-8628-1AA1F185E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6300" y="542608"/>
            <a:ext cx="4635500" cy="2422049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E29E21-0609-B54E-BC1C-BBC49150E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1AF7F-5A29-CC4C-A2A6-A74C0BEF789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0504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B70A5-3FC3-A444-6CCA-F927166D9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3CB6D-6C39-44DC-3700-BBF3BC448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See syllabus</a:t>
            </a:r>
          </a:p>
          <a:p>
            <a:r>
              <a:rPr lang="en-US" dirty="0"/>
              <a:t>Study groups are ok / encouraged, </a:t>
            </a:r>
            <a:r>
              <a:rPr lang="en-US" b="1" dirty="0"/>
              <a:t>but…</a:t>
            </a:r>
          </a:p>
          <a:p>
            <a:r>
              <a:rPr lang="en-US" dirty="0"/>
              <a:t>Graded work must represent individual effort without human or AI assistance unless explicitly authorized otherwise</a:t>
            </a:r>
          </a:p>
          <a:p>
            <a:r>
              <a:rPr lang="en-US" dirty="0"/>
              <a:t>Some assignments will allow / encourage / require</a:t>
            </a:r>
          </a:p>
          <a:p>
            <a:r>
              <a:rPr lang="en-US" dirty="0"/>
              <a:t>Expectations will be increased accordingly</a:t>
            </a:r>
          </a:p>
          <a:p>
            <a:r>
              <a:rPr lang="en-US" dirty="0"/>
              <a:t>Transition: teaching how to write code → how to build software</a:t>
            </a:r>
          </a:p>
          <a:p>
            <a:r>
              <a:rPr lang="en-US" dirty="0"/>
              <a:t>Reading, understanding code still very important and valuable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56467-FFD2-D17C-962A-CB64E7F6B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DFD1E-7777-9B95-361B-32EC108FE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 - INSY 3010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12CFA-AE41-4455-6242-195E224F9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B7E71-652D-8D41-910D-7A904FEC8DF1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6314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F1907-54F9-BE4B-A7AD-A6E01870C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What’s Next?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63622-84D8-BA4B-99B2-4DB88D3D1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2882901"/>
          </a:xfrm>
        </p:spPr>
        <p:txBody>
          <a:bodyPr>
            <a:noAutofit/>
          </a:bodyPr>
          <a:lstStyle/>
          <a:p>
            <a:r>
              <a:rPr lang="en-US" dirty="0"/>
              <a:t>Watch for Canvas announcements!!</a:t>
            </a:r>
          </a:p>
          <a:p>
            <a:r>
              <a:rPr lang="en-US" dirty="0"/>
              <a:t>Begin Python fundamentals</a:t>
            </a:r>
          </a:p>
          <a:p>
            <a:r>
              <a:rPr lang="en-US" dirty="0"/>
              <a:t>Readiness activities due Aug 24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9E7D5-46BB-1A4F-A4F1-037738BD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INSY 3010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549DF-5A75-7546-897F-B09EA0177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Industrial &amp; Systems Engineering, Auburn University - INSY 3010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469F0-FAE5-1646-8356-759B5736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1AF7F-5A29-CC4C-A2A6-A74C0BEF789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154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2415</TotalTime>
  <Words>2206</Words>
  <Application>Microsoft Macintosh PowerPoint</Application>
  <PresentationFormat>Widescreen</PresentationFormat>
  <Paragraphs>361</Paragraphs>
  <Slides>37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Arial</vt:lpstr>
      <vt:lpstr>Ayuthaya</vt:lpstr>
      <vt:lpstr>Calibri</vt:lpstr>
      <vt:lpstr>Calibri Light</vt:lpstr>
      <vt:lpstr>MARKER FELT THIN</vt:lpstr>
      <vt:lpstr>Verdana</vt:lpstr>
      <vt:lpstr>Office Theme</vt:lpstr>
      <vt:lpstr>PowerPoint Presentation</vt:lpstr>
      <vt:lpstr>Programming and Database Applications for ISE INSY 3010</vt:lpstr>
      <vt:lpstr>PowerPoint Presentation</vt:lpstr>
      <vt:lpstr>PowerPoint Presentation</vt:lpstr>
      <vt:lpstr>War Eagle!</vt:lpstr>
      <vt:lpstr>Agenda</vt:lpstr>
      <vt:lpstr>About Me</vt:lpstr>
      <vt:lpstr>Teaching Assistants</vt:lpstr>
      <vt:lpstr>Key Point…</vt:lpstr>
      <vt:lpstr>Class Goal</vt:lpstr>
      <vt:lpstr>Course Mantra credit Dr. Jeff Smith</vt:lpstr>
      <vt:lpstr>Why is it hard to learn to program?</vt:lpstr>
      <vt:lpstr>Best way to learn Python?</vt:lpstr>
      <vt:lpstr>PowerPoint Presentation</vt:lpstr>
      <vt:lpstr>Process</vt:lpstr>
      <vt:lpstr>Transferable Skills</vt:lpstr>
      <vt:lpstr>Exercise: Estimate the total num of texts sent in AU / day.</vt:lpstr>
      <vt:lpstr>Exercise: Estimate the total num of texts sent in AU / day.</vt:lpstr>
      <vt:lpstr>“Fermi Problems”</vt:lpstr>
      <vt:lpstr>Most Modern Engineers Deal with Code</vt:lpstr>
      <vt:lpstr>Why Python?</vt:lpstr>
      <vt:lpstr>PowerPoint Presentation</vt:lpstr>
      <vt:lpstr>PowerPoint Presentation</vt:lpstr>
      <vt:lpstr>Why SQL?</vt:lpstr>
      <vt:lpstr>PowerPoint Presentation</vt:lpstr>
      <vt:lpstr>Worth the Investment</vt:lpstr>
      <vt:lpstr>General Course Format</vt:lpstr>
      <vt:lpstr>Recitations</vt:lpstr>
      <vt:lpstr>Primary Concepts credit Dr. Jeff Smith</vt:lpstr>
      <vt:lpstr>The Plan, Approximately</vt:lpstr>
      <vt:lpstr>Instructional Materials</vt:lpstr>
      <vt:lpstr>Google Colab colab.google</vt:lpstr>
      <vt:lpstr>Grading</vt:lpstr>
      <vt:lpstr>PowerPoint Presentation</vt:lpstr>
      <vt:lpstr>My Expectations</vt:lpstr>
      <vt:lpstr>AI Tools</vt:lpstr>
      <vt:lpstr>What’s Next?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and Database Applications for ISE INSY 3010</dc:title>
  <dc:creator>Dan O'Leary</dc:creator>
  <cp:lastModifiedBy>Dan O'Leary</cp:lastModifiedBy>
  <cp:revision>40</cp:revision>
  <dcterms:created xsi:type="dcterms:W3CDTF">2022-01-12T20:53:07Z</dcterms:created>
  <dcterms:modified xsi:type="dcterms:W3CDTF">2026-08-21T02:29:11Z</dcterms:modified>
</cp:coreProperties>
</file>